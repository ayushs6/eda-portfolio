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67" r:id="rId13"/>
    <p:sldId id="269" r:id="rId14"/>
    <p:sldId id="272" r:id="rId15"/>
    <p:sldId id="271" r:id="rId16"/>
    <p:sldId id="270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33"/>
  </p:normalViewPr>
  <p:slideViewPr>
    <p:cSldViewPr snapToGrid="0">
      <p:cViewPr varScale="1">
        <p:scale>
          <a:sx n="116" d="100"/>
          <a:sy n="116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ush Saxena Shrivastava" userId="064a35d9-78af-4eb7-901e-ab2788ef35fb" providerId="ADAL" clId="{8978B5BB-A0DE-A44C-828F-F6BD71F1FDFD}"/>
    <pc:docChg chg="custSel modSld">
      <pc:chgData name="Ayush Saxena Shrivastava" userId="064a35d9-78af-4eb7-901e-ab2788ef35fb" providerId="ADAL" clId="{8978B5BB-A0DE-A44C-828F-F6BD71F1FDFD}" dt="2026-02-11T23:56:42.453" v="5" actId="20577"/>
      <pc:docMkLst>
        <pc:docMk/>
      </pc:docMkLst>
      <pc:sldChg chg="modSp mod">
        <pc:chgData name="Ayush Saxena Shrivastava" userId="064a35d9-78af-4eb7-901e-ab2788ef35fb" providerId="ADAL" clId="{8978B5BB-A0DE-A44C-828F-F6BD71F1FDFD}" dt="2026-02-11T23:56:42.453" v="5" actId="20577"/>
        <pc:sldMkLst>
          <pc:docMk/>
          <pc:sldMk cId="1356436213" sldId="256"/>
        </pc:sldMkLst>
        <pc:spChg chg="mod">
          <ac:chgData name="Ayush Saxena Shrivastava" userId="064a35d9-78af-4eb7-901e-ab2788ef35fb" providerId="ADAL" clId="{8978B5BB-A0DE-A44C-828F-F6BD71F1FDFD}" dt="2026-02-11T23:56:42.453" v="5" actId="20577"/>
          <ac:spMkLst>
            <pc:docMk/>
            <pc:sldMk cId="1356436213" sldId="256"/>
            <ac:spMk id="3" creationId="{42BB3A88-950D-35E6-CEA1-3ECD5ACC813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ABCE5-2406-4E47-90D1-BDE8CC049C95}" type="doc">
      <dgm:prSet loTypeId="urn:microsoft.com/office/officeart/2005/8/layout/hierarchy1" loCatId="hierarchy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B5F776C4-1BFA-4009-BF47-80B4C39A3EE2}">
      <dgm:prSet/>
      <dgm:spPr/>
      <dgm:t>
        <a:bodyPr/>
        <a:lstStyle/>
        <a:p>
          <a:r>
            <a:rPr lang="en-IN" b="1" i="0"/>
            <a:t>Objective:</a:t>
          </a:r>
          <a:r>
            <a:rPr lang="en-IN" b="0" i="0"/>
            <a:t> Load the raw CSV data into a Pandas DataFrame.</a:t>
          </a:r>
          <a:endParaRPr lang="en-US"/>
        </a:p>
      </dgm:t>
    </dgm:pt>
    <dgm:pt modelId="{63784598-3166-4DBC-9C91-3B5BA9E0456F}" type="parTrans" cxnId="{F30FDE1A-F643-4AD7-9A7E-D47B2C0AE120}">
      <dgm:prSet/>
      <dgm:spPr/>
      <dgm:t>
        <a:bodyPr/>
        <a:lstStyle/>
        <a:p>
          <a:endParaRPr lang="en-US"/>
        </a:p>
      </dgm:t>
    </dgm:pt>
    <dgm:pt modelId="{AA2066B4-3E1D-4683-A803-0F67794BCB09}" type="sibTrans" cxnId="{F30FDE1A-F643-4AD7-9A7E-D47B2C0AE120}">
      <dgm:prSet/>
      <dgm:spPr/>
      <dgm:t>
        <a:bodyPr/>
        <a:lstStyle/>
        <a:p>
          <a:endParaRPr lang="en-US"/>
        </a:p>
      </dgm:t>
    </dgm:pt>
    <dgm:pt modelId="{30717A6A-9BD3-4EFF-8222-4962BF483A9C}">
      <dgm:prSet/>
      <dgm:spPr/>
      <dgm:t>
        <a:bodyPr/>
        <a:lstStyle/>
        <a:p>
          <a:r>
            <a:rPr lang="en-IN" b="1" i="0" dirty="0"/>
            <a:t>Libraries Imported:</a:t>
          </a:r>
          <a:r>
            <a:rPr lang="en-IN" b="0" i="0" dirty="0"/>
            <a:t> Pandas, NumPy, Matplotlib.</a:t>
          </a:r>
          <a:endParaRPr lang="en-US" dirty="0"/>
        </a:p>
      </dgm:t>
    </dgm:pt>
    <dgm:pt modelId="{C61BF7F3-BB50-4D7E-BDC3-FC420202CCB9}" type="parTrans" cxnId="{33E8E4EE-CCDD-4F41-BCF0-74B4357ACB5A}">
      <dgm:prSet/>
      <dgm:spPr/>
      <dgm:t>
        <a:bodyPr/>
        <a:lstStyle/>
        <a:p>
          <a:endParaRPr lang="en-US"/>
        </a:p>
      </dgm:t>
    </dgm:pt>
    <dgm:pt modelId="{8ABD8CEC-E153-473B-9B75-85D641A1D985}" type="sibTrans" cxnId="{33E8E4EE-CCDD-4F41-BCF0-74B4357ACB5A}">
      <dgm:prSet/>
      <dgm:spPr/>
      <dgm:t>
        <a:bodyPr/>
        <a:lstStyle/>
        <a:p>
          <a:endParaRPr lang="en-US"/>
        </a:p>
      </dgm:t>
    </dgm:pt>
    <dgm:pt modelId="{60072A29-2712-3B47-B0CC-4F2D9953E23B}" type="pres">
      <dgm:prSet presAssocID="{40CABCE5-2406-4E47-90D1-BDE8CC049C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5AD56AC-1EBD-6D43-86AE-55020CA0893C}" type="pres">
      <dgm:prSet presAssocID="{B5F776C4-1BFA-4009-BF47-80B4C39A3EE2}" presName="hierRoot1" presStyleCnt="0"/>
      <dgm:spPr/>
    </dgm:pt>
    <dgm:pt modelId="{E2824A3D-6003-A44C-9086-AF43CF68939C}" type="pres">
      <dgm:prSet presAssocID="{B5F776C4-1BFA-4009-BF47-80B4C39A3EE2}" presName="composite" presStyleCnt="0"/>
      <dgm:spPr/>
    </dgm:pt>
    <dgm:pt modelId="{908BB670-3B07-8D4D-8A38-FE4701665A49}" type="pres">
      <dgm:prSet presAssocID="{B5F776C4-1BFA-4009-BF47-80B4C39A3EE2}" presName="background" presStyleLbl="node0" presStyleIdx="0" presStyleCnt="2"/>
      <dgm:spPr/>
    </dgm:pt>
    <dgm:pt modelId="{E99D324F-A125-374D-AB49-A55AF496CA5C}" type="pres">
      <dgm:prSet presAssocID="{B5F776C4-1BFA-4009-BF47-80B4C39A3EE2}" presName="text" presStyleLbl="fgAcc0" presStyleIdx="0" presStyleCnt="2">
        <dgm:presLayoutVars>
          <dgm:chPref val="3"/>
        </dgm:presLayoutVars>
      </dgm:prSet>
      <dgm:spPr/>
    </dgm:pt>
    <dgm:pt modelId="{5C35DDD7-F4E3-814C-B23A-4E3F1CFBE816}" type="pres">
      <dgm:prSet presAssocID="{B5F776C4-1BFA-4009-BF47-80B4C39A3EE2}" presName="hierChild2" presStyleCnt="0"/>
      <dgm:spPr/>
    </dgm:pt>
    <dgm:pt modelId="{F6612D6A-B698-CA4E-AE7B-D5AB2CA50159}" type="pres">
      <dgm:prSet presAssocID="{30717A6A-9BD3-4EFF-8222-4962BF483A9C}" presName="hierRoot1" presStyleCnt="0"/>
      <dgm:spPr/>
    </dgm:pt>
    <dgm:pt modelId="{3F2DB200-0129-DA46-AD7B-F372955767F9}" type="pres">
      <dgm:prSet presAssocID="{30717A6A-9BD3-4EFF-8222-4962BF483A9C}" presName="composite" presStyleCnt="0"/>
      <dgm:spPr/>
    </dgm:pt>
    <dgm:pt modelId="{7E90E651-ABFD-A440-B2F9-20043F16D5E3}" type="pres">
      <dgm:prSet presAssocID="{30717A6A-9BD3-4EFF-8222-4962BF483A9C}" presName="background" presStyleLbl="node0" presStyleIdx="1" presStyleCnt="2"/>
      <dgm:spPr/>
    </dgm:pt>
    <dgm:pt modelId="{2D449B2C-73E1-544D-9F38-45EE48EF40D6}" type="pres">
      <dgm:prSet presAssocID="{30717A6A-9BD3-4EFF-8222-4962BF483A9C}" presName="text" presStyleLbl="fgAcc0" presStyleIdx="1" presStyleCnt="2">
        <dgm:presLayoutVars>
          <dgm:chPref val="3"/>
        </dgm:presLayoutVars>
      </dgm:prSet>
      <dgm:spPr/>
    </dgm:pt>
    <dgm:pt modelId="{53557FB6-BBB5-8143-BDD9-9AE945CEC914}" type="pres">
      <dgm:prSet presAssocID="{30717A6A-9BD3-4EFF-8222-4962BF483A9C}" presName="hierChild2" presStyleCnt="0"/>
      <dgm:spPr/>
    </dgm:pt>
  </dgm:ptLst>
  <dgm:cxnLst>
    <dgm:cxn modelId="{F30FDE1A-F643-4AD7-9A7E-D47B2C0AE120}" srcId="{40CABCE5-2406-4E47-90D1-BDE8CC049C95}" destId="{B5F776C4-1BFA-4009-BF47-80B4C39A3EE2}" srcOrd="0" destOrd="0" parTransId="{63784598-3166-4DBC-9C91-3B5BA9E0456F}" sibTransId="{AA2066B4-3E1D-4683-A803-0F67794BCB09}"/>
    <dgm:cxn modelId="{6545F198-4997-5543-9A79-303D3264441E}" type="presOf" srcId="{40CABCE5-2406-4E47-90D1-BDE8CC049C95}" destId="{60072A29-2712-3B47-B0CC-4F2D9953E23B}" srcOrd="0" destOrd="0" presId="urn:microsoft.com/office/officeart/2005/8/layout/hierarchy1"/>
    <dgm:cxn modelId="{CC26C9AC-9311-0445-B3E0-1D7E9111F4E6}" type="presOf" srcId="{30717A6A-9BD3-4EFF-8222-4962BF483A9C}" destId="{2D449B2C-73E1-544D-9F38-45EE48EF40D6}" srcOrd="0" destOrd="0" presId="urn:microsoft.com/office/officeart/2005/8/layout/hierarchy1"/>
    <dgm:cxn modelId="{FDDE66CE-01D7-844D-A87B-8857BFDD88FE}" type="presOf" srcId="{B5F776C4-1BFA-4009-BF47-80B4C39A3EE2}" destId="{E99D324F-A125-374D-AB49-A55AF496CA5C}" srcOrd="0" destOrd="0" presId="urn:microsoft.com/office/officeart/2005/8/layout/hierarchy1"/>
    <dgm:cxn modelId="{33E8E4EE-CCDD-4F41-BCF0-74B4357ACB5A}" srcId="{40CABCE5-2406-4E47-90D1-BDE8CC049C95}" destId="{30717A6A-9BD3-4EFF-8222-4962BF483A9C}" srcOrd="1" destOrd="0" parTransId="{C61BF7F3-BB50-4D7E-BDC3-FC420202CCB9}" sibTransId="{8ABD8CEC-E153-473B-9B75-85D641A1D985}"/>
    <dgm:cxn modelId="{EB72DAEC-4DDE-BD48-9217-48B33D548119}" type="presParOf" srcId="{60072A29-2712-3B47-B0CC-4F2D9953E23B}" destId="{85AD56AC-1EBD-6D43-86AE-55020CA0893C}" srcOrd="0" destOrd="0" presId="urn:microsoft.com/office/officeart/2005/8/layout/hierarchy1"/>
    <dgm:cxn modelId="{32A75A08-EF94-DF41-9FE6-A4A7CE8BC5B7}" type="presParOf" srcId="{85AD56AC-1EBD-6D43-86AE-55020CA0893C}" destId="{E2824A3D-6003-A44C-9086-AF43CF68939C}" srcOrd="0" destOrd="0" presId="urn:microsoft.com/office/officeart/2005/8/layout/hierarchy1"/>
    <dgm:cxn modelId="{AC0AEDB7-F0D9-6746-A30F-471FAF9B5721}" type="presParOf" srcId="{E2824A3D-6003-A44C-9086-AF43CF68939C}" destId="{908BB670-3B07-8D4D-8A38-FE4701665A49}" srcOrd="0" destOrd="0" presId="urn:microsoft.com/office/officeart/2005/8/layout/hierarchy1"/>
    <dgm:cxn modelId="{41A6021D-E670-F84C-B8CE-B24FF523C74C}" type="presParOf" srcId="{E2824A3D-6003-A44C-9086-AF43CF68939C}" destId="{E99D324F-A125-374D-AB49-A55AF496CA5C}" srcOrd="1" destOrd="0" presId="urn:microsoft.com/office/officeart/2005/8/layout/hierarchy1"/>
    <dgm:cxn modelId="{DAFA194E-10BD-9849-B9F9-59AB49404E22}" type="presParOf" srcId="{85AD56AC-1EBD-6D43-86AE-55020CA0893C}" destId="{5C35DDD7-F4E3-814C-B23A-4E3F1CFBE816}" srcOrd="1" destOrd="0" presId="urn:microsoft.com/office/officeart/2005/8/layout/hierarchy1"/>
    <dgm:cxn modelId="{760AC2AE-7548-414F-A2B1-50133737D972}" type="presParOf" srcId="{60072A29-2712-3B47-B0CC-4F2D9953E23B}" destId="{F6612D6A-B698-CA4E-AE7B-D5AB2CA50159}" srcOrd="1" destOrd="0" presId="urn:microsoft.com/office/officeart/2005/8/layout/hierarchy1"/>
    <dgm:cxn modelId="{FC37B8E7-3602-C845-9148-EE4C4F28960F}" type="presParOf" srcId="{F6612D6A-B698-CA4E-AE7B-D5AB2CA50159}" destId="{3F2DB200-0129-DA46-AD7B-F372955767F9}" srcOrd="0" destOrd="0" presId="urn:microsoft.com/office/officeart/2005/8/layout/hierarchy1"/>
    <dgm:cxn modelId="{7B774C0E-69FF-0E4F-802C-3489363C643B}" type="presParOf" srcId="{3F2DB200-0129-DA46-AD7B-F372955767F9}" destId="{7E90E651-ABFD-A440-B2F9-20043F16D5E3}" srcOrd="0" destOrd="0" presId="urn:microsoft.com/office/officeart/2005/8/layout/hierarchy1"/>
    <dgm:cxn modelId="{8F15CC95-DAE2-CA4F-B327-06A9B7E3F1FE}" type="presParOf" srcId="{3F2DB200-0129-DA46-AD7B-F372955767F9}" destId="{2D449B2C-73E1-544D-9F38-45EE48EF40D6}" srcOrd="1" destOrd="0" presId="urn:microsoft.com/office/officeart/2005/8/layout/hierarchy1"/>
    <dgm:cxn modelId="{2264983F-EE13-434E-92D7-E7A2F2CA023A}" type="presParOf" srcId="{F6612D6A-B698-CA4E-AE7B-D5AB2CA50159}" destId="{53557FB6-BBB5-8143-BDD9-9AE945CEC91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8BB670-3B07-8D4D-8A38-FE4701665A49}">
      <dsp:nvSpPr>
        <dsp:cNvPr id="0" name=""/>
        <dsp:cNvSpPr/>
      </dsp:nvSpPr>
      <dsp:spPr>
        <a:xfrm>
          <a:off x="695" y="1152862"/>
          <a:ext cx="2442862" cy="1551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99D324F-A125-374D-AB49-A55AF496CA5C}">
      <dsp:nvSpPr>
        <dsp:cNvPr id="0" name=""/>
        <dsp:cNvSpPr/>
      </dsp:nvSpPr>
      <dsp:spPr>
        <a:xfrm>
          <a:off x="272125" y="1410720"/>
          <a:ext cx="2442862" cy="1551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/>
            <a:t>Objective:</a:t>
          </a:r>
          <a:r>
            <a:rPr lang="en-IN" sz="2000" b="0" i="0" kern="1200"/>
            <a:t> Load the raw CSV data into a Pandas DataFrame.</a:t>
          </a:r>
          <a:endParaRPr lang="en-US" sz="2000" kern="1200"/>
        </a:p>
      </dsp:txBody>
      <dsp:txXfrm>
        <a:off x="317559" y="1456154"/>
        <a:ext cx="2351994" cy="1460349"/>
      </dsp:txXfrm>
    </dsp:sp>
    <dsp:sp modelId="{7E90E651-ABFD-A440-B2F9-20043F16D5E3}">
      <dsp:nvSpPr>
        <dsp:cNvPr id="0" name=""/>
        <dsp:cNvSpPr/>
      </dsp:nvSpPr>
      <dsp:spPr>
        <a:xfrm>
          <a:off x="2986417" y="1152862"/>
          <a:ext cx="2442862" cy="155121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449B2C-73E1-544D-9F38-45EE48EF40D6}">
      <dsp:nvSpPr>
        <dsp:cNvPr id="0" name=""/>
        <dsp:cNvSpPr/>
      </dsp:nvSpPr>
      <dsp:spPr>
        <a:xfrm>
          <a:off x="3257846" y="1410720"/>
          <a:ext cx="2442862" cy="155121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i="0" kern="1200" dirty="0"/>
            <a:t>Libraries Imported:</a:t>
          </a:r>
          <a:r>
            <a:rPr lang="en-IN" sz="2000" b="0" i="0" kern="1200" dirty="0"/>
            <a:t> Pandas, NumPy, Matplotlib.</a:t>
          </a:r>
          <a:endParaRPr lang="en-US" sz="2000" kern="1200" dirty="0"/>
        </a:p>
      </dsp:txBody>
      <dsp:txXfrm>
        <a:off x="3303280" y="1456154"/>
        <a:ext cx="2351994" cy="14603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85BB-8B07-4DC9-86F3-2A225C777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7638222" cy="2852928"/>
          </a:xfrm>
        </p:spPr>
        <p:txBody>
          <a:bodyPr anchor="b">
            <a:normAutofit/>
          </a:bodyPr>
          <a:lstStyle>
            <a:lvl1pPr algn="l">
              <a:lnSpc>
                <a:spcPct val="130000"/>
              </a:lnSpc>
              <a:defRPr sz="3600" spc="1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D496A-6E7A-4923-8ED5-B4164125D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0200" y="4681728"/>
            <a:ext cx="7638222" cy="9292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buNone/>
              <a:defRPr sz="16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E3D20-43DC-4C14-8CFF-18545AED1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FC300-5AFC-418B-85FD-EFA94BD7A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C7E81-ED3C-4DB0-8E74-AD2A87E6B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C817C9-850F-4FB6-B93B-CF3076C4A5C1}"/>
              </a:ext>
            </a:extLst>
          </p:cNvPr>
          <p:cNvGrpSpPr/>
          <p:nvPr/>
        </p:nvGrpSpPr>
        <p:grpSpPr>
          <a:xfrm flipH="1">
            <a:off x="0" y="0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9433A8-B67D-4675-AFDE-131069A709FC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1CD1C45-6A4D-4237-B39C-2D58F401A8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3533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25F8D-0421-4AEC-9C40-A13163EC8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37680-115A-411F-AEF6-4AC2096B4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CC193-1304-4D0F-8331-14D4EC08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455C1-CD32-4050-BAFF-51CC6B62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AF608-FF11-4CBE-B717-5D56AE67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91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BD23A02E-6DCF-427A-8CFD-281B2185C7F0}"/>
              </a:ext>
            </a:extLst>
          </p:cNvPr>
          <p:cNvSpPr/>
          <p:nvPr/>
        </p:nvSpPr>
        <p:spPr>
          <a:xfrm>
            <a:off x="3242985" y="511814"/>
            <a:ext cx="5706031" cy="570603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dist="165100" dir="2220000" algn="tr" rotWithShape="0">
              <a:schemeClr val="tx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6B4C32-F19C-44F3-8EF8-1F506D74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9192" y="1709738"/>
            <a:ext cx="4893617" cy="2553893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889729-131C-4F78-9DAA-E9EE28EA9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62249" y="4540468"/>
            <a:ext cx="4067503" cy="115403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1" cap="all" spc="6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E608-AC1F-41FB-974A-BD619C6C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86158-8B03-45C3-891D-0357B198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3B054-E8A2-43FD-B0FB-B1CCFA4BC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3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4AA7-6D5A-402E-AD1A-880F2BDB7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D32B6-F9D8-4A43-B52C-336CFAB00A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2976" y="2019299"/>
            <a:ext cx="4995019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0CDD9-5742-4A34-BA72-7CCA72D914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3718" y="2019299"/>
            <a:ext cx="5027954" cy="415766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783AA-D2AB-4385-A91F-870CB656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AAD9C-5CA2-4DA1-84D3-B1838979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AB3C7-9574-47BC-932D-782BEE99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758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4C468-781B-4BC5-8DEA-B9EF2BF90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460" y="369168"/>
            <a:ext cx="10458729" cy="14398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7223F-48E4-491D-AB5D-5FC8A0C56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101" y="1843067"/>
            <a:ext cx="5007894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6B764-4B87-42FF-ABAA-69B07B88FF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0101" y="2505075"/>
            <a:ext cx="5007894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4357B9-406F-4BF9-B8FB-C53421EEF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061" y="1843067"/>
            <a:ext cx="4994128" cy="66200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20462B-1939-4DAA-A7DD-6BDC9505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061" y="2505075"/>
            <a:ext cx="4994128" cy="3684588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6C938B-C4C2-4FA9-85CA-9CD742CD7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AD8886-0D28-4D49-8D43-151D37E9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2FDDE8-E9F8-4B6C-9A40-829617A7C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94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AE3D8-6C35-428B-B2F2-251FDE10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" y="983769"/>
            <a:ext cx="10094770" cy="1180574"/>
          </a:xfrm>
          <a:solidFill>
            <a:schemeClr val="accent1">
              <a:lumMod val="20000"/>
              <a:lumOff val="80000"/>
            </a:schemeClr>
          </a:solidFill>
          <a:effectLst>
            <a:outerShdw dist="165100" dir="18900000" algn="bl" rotWithShape="0">
              <a:prstClr val="black"/>
            </a:outerShdw>
          </a:effectLst>
        </p:spPr>
        <p:txBody>
          <a:bodyPr/>
          <a:lstStyle>
            <a:lvl1pPr marL="18288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B8015-E11A-42CA-AE88-7BD73F87E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09078-34CA-45CD-B479-03906A265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D03258-F989-47B2-A643-A60CD8A7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16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A2F31-48B6-40CE-A364-3CE73FD85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EEA00-F166-41EB-9331-CA99BB70F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B051F-F8FC-4FF6-9783-45F9FE7A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9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08635-A5AF-48F4-8CD2-FB0E01113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5E0E-DCC0-4781-A608-962B1241B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826" y="987425"/>
            <a:ext cx="604556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21F43E-3D50-4A1C-A289-B3D0DD0E7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0E3A-6639-4EA0-8305-C1899DAB4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AFD57-4189-42FB-B29E-96366E51B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5E2EC-8483-4FBC-9D29-C19025FA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E581-A090-4AE9-9965-B06BDB52B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600200"/>
          </a:xfrm>
        </p:spPr>
        <p:txBody>
          <a:bodyPr anchor="t">
            <a:normAutofit/>
          </a:bodyPr>
          <a:lstStyle>
            <a:lvl1pPr>
              <a:defRPr sz="2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39DEF4-262F-4ACF-9B29-3D4B819E7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53969" y="987425"/>
            <a:ext cx="5694503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ED7CBB-7A6F-441E-9072-2494B952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43200"/>
            <a:ext cx="3932237" cy="31273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59692-77BE-4A7D-AA70-635007A6E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9A4DA-63AF-4D6A-98DB-E1D0AC741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6B7958-B19B-4C23-A82F-DD4E4B91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03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958AD-1CAD-45B3-B83D-DC9D33CD6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153F2E-0397-4423-8A88-D0059DEAF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DDE1-7025-4FA9-822D-481685085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A73E0-F328-46DC-98BE-CA0981F75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52226-010C-494F-8BE8-BF91F355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F89E9C4-9D18-4529-BC0C-68EAE507CDF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7DF5937-0C03-4786-AB62-3CF7CECB92D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AD93DB-2DB0-4B2D-884B-6EC4534432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4970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C635D0-31D9-44E1-911D-F7D5D5400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53914" y="624313"/>
            <a:ext cx="2537986" cy="55097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7F9230-1FA4-439D-A800-B5F006F0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00100" y="624313"/>
            <a:ext cx="7816542" cy="55097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AB2A3-7055-43AF-8BAB-0A9B74448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9A1821-A311-49CD-BCB4-B4BC88661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37C6A8-813A-486A-AA90-AB28935F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38C7A17-06CC-442C-A876-A51B2B556508}"/>
              </a:ext>
            </a:extLst>
          </p:cNvPr>
          <p:cNvGrpSpPr/>
          <p:nvPr/>
        </p:nvGrpSpPr>
        <p:grpSpPr>
          <a:xfrm flipH="1" flipV="1">
            <a:off x="0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4C1798A-2980-4F34-8355-7BCB6B295322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9D7542C-E4AE-488F-BC75-2E7ED83910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5137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86DAE1-1F65-43B8-A400-95E6DEED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4384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5C993-A44B-4C2D-818E-4C9000BB0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8662" y="2019299"/>
            <a:ext cx="10357666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21B6E-ECC6-47D0-9C14-812B746F1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5014" y="634204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E6171E64-FE02-4DE5-B72F-53C3706641C3}" type="datetimeFigureOut">
              <a:rPr lang="en-US" smtClean="0"/>
              <a:t>2/11/26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9A716-DEA9-48A9-A5BC-0F392D2B4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96200" y="6342042"/>
            <a:ext cx="3470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CB69E-A0E4-4558-9C62-4CD8CDD2A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329" y="6342042"/>
            <a:ext cx="5262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00" baseline="0">
                <a:solidFill>
                  <a:schemeClr val="tx1"/>
                </a:solidFill>
              </a:defRPr>
            </a:lvl1pPr>
          </a:lstStyle>
          <a:p>
            <a:fld id="{91F18EF7-BE1E-4ECB-84D4-67C2B4D8F095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B6ECC43-D65E-4A7B-A76B-D278A2184166}"/>
              </a:ext>
            </a:extLst>
          </p:cNvPr>
          <p:cNvGrpSpPr/>
          <p:nvPr/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</a:extLst>
            </p:cNvPr>
            <p:cNvSpPr/>
            <p:nvPr/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6308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01" r:id="rId7"/>
    <p:sldLayoutId id="2147483702" r:id="rId8"/>
    <p:sldLayoutId id="2147483703" r:id="rId9"/>
    <p:sldLayoutId id="2147483704" r:id="rId10"/>
    <p:sldLayoutId id="2147483711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320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SzPct val="10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svg"/><Relationship Id="rId7" Type="http://schemas.openxmlformats.org/officeDocument/2006/relationships/diagramColors" Target="../diagrams/colors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FFC321AD-2C92-446F-AF58-8CAA634BFD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blue abstract watercolor pattern on a white background">
            <a:extLst>
              <a:ext uri="{FF2B5EF4-FFF2-40B4-BE49-F238E27FC236}">
                <a16:creationId xmlns:a16="http://schemas.microsoft.com/office/drawing/2014/main" id="{C1FF0D01-23A2-25AD-AA1F-E783061B41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4644" b="1086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0220E3B-B61B-7FE6-8157-FEE84BBD0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22853" cy="6858000"/>
          </a:xfrm>
          <a:custGeom>
            <a:avLst/>
            <a:gdLst>
              <a:gd name="connsiteX0" fmla="*/ 2192785 w 2192785"/>
              <a:gd name="connsiteY0" fmla="*/ 3807381 h 3807381"/>
              <a:gd name="connsiteX1" fmla="*/ 0 w 2192785"/>
              <a:gd name="connsiteY1" fmla="*/ 3807381 h 3807381"/>
              <a:gd name="connsiteX2" fmla="*/ 0 w 2192785"/>
              <a:gd name="connsiteY2" fmla="*/ 0 h 3807381"/>
              <a:gd name="connsiteX3" fmla="*/ 2192785 w 2192785"/>
              <a:gd name="connsiteY3" fmla="*/ 0 h 380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785" h="3807381">
                <a:moveTo>
                  <a:pt x="2192785" y="3807381"/>
                </a:moveTo>
                <a:lnTo>
                  <a:pt x="0" y="3807381"/>
                </a:lnTo>
                <a:lnTo>
                  <a:pt x="0" y="0"/>
                </a:lnTo>
                <a:lnTo>
                  <a:pt x="2192785" y="0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95000">
                <a:srgbClr val="000000">
                  <a:alpha val="55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E49A27-08B7-A9F1-681D-19164BDA0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027" y="1261872"/>
            <a:ext cx="5622528" cy="2852928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IN" sz="2500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EXPLORATORY DATA ANALYSIS AND VISUALIZATION ON World Development Indicators</a:t>
            </a:r>
            <a:endParaRPr lang="en-US" sz="25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BB3A88-950D-35E6-CEA1-3ECD5ACC8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027" y="4681727"/>
            <a:ext cx="7382816" cy="1997369"/>
          </a:xfrm>
        </p:spPr>
        <p:txBody>
          <a:bodyPr>
            <a:normAutofit/>
          </a:bodyPr>
          <a:lstStyle/>
          <a:p>
            <a:endParaRPr lang="en-IN" b="0" i="0" u="none" strike="noStrike">
              <a:solidFill>
                <a:srgbClr val="FFFFFF"/>
              </a:solidFill>
              <a:effectLst/>
              <a:latin typeface="-webkit-standard"/>
            </a:endParaRPr>
          </a:p>
          <a:p>
            <a:r>
              <a:rPr lang="en-IN" b="0" i="0" u="none" strike="noStrike">
                <a:solidFill>
                  <a:srgbClr val="FFFFFF"/>
                </a:solidFill>
                <a:effectLst/>
                <a:latin typeface="-webkit-standard"/>
              </a:rPr>
              <a:t>STUDENT </a:t>
            </a:r>
            <a:r>
              <a:rPr lang="en-IN" b="0" i="0" u="none" strike="noStrike" dirty="0">
                <a:solidFill>
                  <a:srgbClr val="FFFFFF"/>
                </a:solidFill>
                <a:effectLst/>
                <a:latin typeface="-webkit-standard"/>
              </a:rPr>
              <a:t>DETAIL:</a:t>
            </a:r>
          </a:p>
          <a:p>
            <a:endParaRPr lang="en-IN" b="0" dirty="0">
              <a:solidFill>
                <a:srgbClr val="FFFFFF"/>
              </a:solidFill>
              <a:latin typeface="-webkit-standard"/>
            </a:endParaRPr>
          </a:p>
          <a:p>
            <a:r>
              <a:rPr lang="en-IN" b="0" dirty="0">
                <a:solidFill>
                  <a:srgbClr val="FFFFFF"/>
                </a:solidFill>
                <a:latin typeface="-webkit-standard"/>
              </a:rPr>
              <a:t>AYUSH SAXENA SHRIVASTAVA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FA801D1-B067-4DAE-708F-7C47567C2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995139" y="0"/>
            <a:ext cx="2196859" cy="6858000"/>
          </a:xfrm>
          <a:custGeom>
            <a:avLst/>
            <a:gdLst>
              <a:gd name="connsiteX0" fmla="*/ 2192785 w 2192785"/>
              <a:gd name="connsiteY0" fmla="*/ 3807381 h 3807381"/>
              <a:gd name="connsiteX1" fmla="*/ 0 w 2192785"/>
              <a:gd name="connsiteY1" fmla="*/ 3807381 h 3807381"/>
              <a:gd name="connsiteX2" fmla="*/ 0 w 2192785"/>
              <a:gd name="connsiteY2" fmla="*/ 0 h 3807381"/>
              <a:gd name="connsiteX3" fmla="*/ 2192785 w 2192785"/>
              <a:gd name="connsiteY3" fmla="*/ 0 h 3807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2785" h="3807381">
                <a:moveTo>
                  <a:pt x="2192785" y="3807381"/>
                </a:moveTo>
                <a:lnTo>
                  <a:pt x="0" y="3807381"/>
                </a:lnTo>
                <a:lnTo>
                  <a:pt x="0" y="0"/>
                </a:lnTo>
                <a:lnTo>
                  <a:pt x="2192785" y="0"/>
                </a:lnTo>
                <a:close/>
              </a:path>
            </a:pathLst>
          </a:cu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>
                  <a:alpha val="31000"/>
                </a:srgb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F5D4DB-368A-4B23-81E4-E0454BAD8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1563125" y="3424422"/>
            <a:ext cx="642729" cy="2930667"/>
          </a:xfrm>
          <a:prstGeom prst="rect">
            <a:avLst/>
          </a:prstGeom>
          <a:blipFill dpi="0" rotWithShape="1">
            <a:blip r:embed="rId3">
              <a:alphaModFix amt="9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372D7B9-36D5-4C1F-B7C9-36717C28F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1985992" y="4836695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36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DE89493-AC86-4DB9-8963-3671DDEBE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F70C9-1FAB-9A03-BAE1-F4D429E46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656" y="665389"/>
            <a:ext cx="5807818" cy="1507193"/>
          </a:xfrm>
        </p:spPr>
        <p:txBody>
          <a:bodyPr anchor="b">
            <a:normAutofit/>
          </a:bodyPr>
          <a:lstStyle/>
          <a:p>
            <a:r>
              <a:rPr lang="en-US" dirty="0"/>
              <a:t>PROJECT OBJECTIVES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16797-680A-DBC9-A997-34FCD9A05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56" y="2400301"/>
            <a:ext cx="5568215" cy="373380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300" b="1" i="0" u="none" strike="noStrike" dirty="0">
                <a:effectLst/>
              </a:rPr>
              <a:t>Goal: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300" b="0" i="0" u="none" strike="noStrike" dirty="0">
                <a:effectLst/>
              </a:rPr>
              <a:t> To perform exploratory data analysis and visualization on a subset of the World Development Indicators dataset using Python.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1300" b="1" i="0" u="none" strike="noStrike" dirty="0">
                <a:effectLst/>
              </a:rPr>
              <a:t>Specific Objectives:</a:t>
            </a:r>
            <a:endParaRPr lang="en-IN" sz="1300" dirty="0"/>
          </a:p>
          <a:p>
            <a:pPr>
              <a:lnSpc>
                <a:spcPct val="120000"/>
              </a:lnSpc>
            </a:pPr>
            <a:r>
              <a:rPr lang="en-IN" sz="1300" dirty="0"/>
              <a:t>Demonstrate data loading, cleaning, wrangling, and descriptive analysis techniques.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300" b="0" i="0" u="none" strike="noStrike" dirty="0">
                <a:effectLst/>
              </a:rPr>
              <a:t>Compare trends in key development indicators (Life Expectancy, Access to Electricity, etc.) across selected developed and developing nations between 2000-2022.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300" b="0" i="0" u="none" strike="noStrike" dirty="0">
                <a:effectLst/>
              </a:rPr>
              <a:t>Investigate the relationship between economic status (GDP per capita) and social outcomes (Life Expectancy, Health Expenditure) for the year 2022.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300" b="0" i="0" u="none" strike="noStrike" dirty="0">
                <a:effectLst/>
              </a:rPr>
              <a:t>Highlight differences in per capita health expenditure among these nations in 2022.</a:t>
            </a:r>
          </a:p>
        </p:txBody>
      </p:sp>
      <p:sp>
        <p:nvSpPr>
          <p:cNvPr id="33" name="Freeform: Shape 21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630921" y="2766496"/>
            <a:ext cx="5385102" cy="1987416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Graph">
            <a:extLst>
              <a:ext uri="{FF2B5EF4-FFF2-40B4-BE49-F238E27FC236}">
                <a16:creationId xmlns:a16="http://schemas.microsoft.com/office/drawing/2014/main" id="{4FCACF3F-EC51-1B6E-A117-CD23C0BAC9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364" r="27172"/>
          <a:stretch>
            <a:fillRect/>
          </a:stretch>
        </p:blipFill>
        <p:spPr>
          <a:xfrm>
            <a:off x="7696200" y="10"/>
            <a:ext cx="4495800" cy="6047499"/>
          </a:xfrm>
          <a:custGeom>
            <a:avLst/>
            <a:gdLst/>
            <a:ahLst/>
            <a:cxnLst/>
            <a:rect l="l" t="t" r="r" b="b"/>
            <a:pathLst>
              <a:path w="2093843" h="1948070">
                <a:moveTo>
                  <a:pt x="0" y="0"/>
                </a:moveTo>
                <a:lnTo>
                  <a:pt x="2093843" y="0"/>
                </a:lnTo>
                <a:lnTo>
                  <a:pt x="2093843" y="1948070"/>
                </a:lnTo>
                <a:lnTo>
                  <a:pt x="0" y="1948070"/>
                </a:lnTo>
                <a:close/>
              </a:path>
            </a:pathLst>
          </a:custGeom>
          <a:effectLst/>
        </p:spPr>
      </p:pic>
    </p:spTree>
    <p:extLst>
      <p:ext uri="{BB962C8B-B14F-4D97-AF65-F5344CB8AC3E}">
        <p14:creationId xmlns:p14="http://schemas.microsoft.com/office/powerpoint/2010/main" val="3668467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28492A-DDDF-4C12-AE60-3EA02D8D2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063DF58-06E6-4ED6-947D-1490C2F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3891" y="-5553891"/>
            <a:ext cx="1084217" cy="12192003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630FA-3A06-1558-A9E9-063E5376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0349" y="838459"/>
            <a:ext cx="9507106" cy="1281181"/>
          </a:xfrm>
          <a:solidFill>
            <a:schemeClr val="accent1">
              <a:lumMod val="20000"/>
              <a:lumOff val="80000"/>
            </a:schemeClr>
          </a:solidFill>
          <a:effectLst>
            <a:outerShdw dist="190500" dir="18960000" algn="tr" rotWithShape="0">
              <a:schemeClr val="tx1"/>
            </a:outerShdw>
          </a:effectLst>
        </p:spPr>
        <p:txBody>
          <a:bodyPr anchor="ctr">
            <a:normAutofit/>
          </a:bodyPr>
          <a:lstStyle/>
          <a:p>
            <a:r>
              <a:rPr lang="en-IN" b="0" i="0" u="none" strike="noStrike">
                <a:solidFill>
                  <a:srgbClr val="000000"/>
                </a:solidFill>
                <a:effectLst/>
                <a:latin typeface="-webkit-standard"/>
              </a:rPr>
              <a:t>Data Set Description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6E144-1D1C-6BB1-72F4-4DA52B7AE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77" y="2507411"/>
            <a:ext cx="7952282" cy="368088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None/>
            </a:pPr>
            <a:endParaRPr lang="en-IN" sz="900" b="1" i="0" u="none" strike="noStrike" dirty="0">
              <a:effectLst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Source:</a:t>
            </a:r>
            <a:r>
              <a:rPr lang="en-IN" sz="900" b="0" i="0" u="none" strike="noStrike" dirty="0">
                <a:effectLst/>
              </a:rPr>
              <a:t> World Bank - World Development Indicators (WDI)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Link: </a:t>
            </a:r>
            <a:r>
              <a:rPr lang="en-IN" sz="900" i="0" u="none" strike="noStrike" dirty="0">
                <a:effectLst/>
              </a:rPr>
              <a:t>https://</a:t>
            </a:r>
            <a:r>
              <a:rPr lang="en-IN" sz="900" i="0" u="none" strike="noStrike" dirty="0" err="1">
                <a:effectLst/>
              </a:rPr>
              <a:t>datacatalog.worldbank.org</a:t>
            </a:r>
            <a:r>
              <a:rPr lang="en-IN" sz="900" i="0" u="none" strike="noStrike" dirty="0">
                <a:effectLst/>
              </a:rPr>
              <a:t>/search/dataset/0037712/World-Development-Indicators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Original Data:</a:t>
            </a:r>
            <a:r>
              <a:rPr lang="en-IN" sz="900" b="0" i="0" u="none" strike="noStrike" dirty="0">
                <a:effectLst/>
              </a:rPr>
              <a:t> </a:t>
            </a:r>
            <a:r>
              <a:rPr lang="en-IN" sz="900" b="0" i="0" u="none" strike="noStrike" dirty="0">
                <a:solidFill>
                  <a:srgbClr val="000000"/>
                </a:solidFill>
                <a:effectLst/>
              </a:rPr>
              <a:t>Contains a vast collection of development indicators for countries worldwide, spanning from 1960 onwards. The initial format is "wide," with years as columns</a:t>
            </a:r>
            <a:endParaRPr lang="en-IN" sz="900" b="0" i="0" u="none" strike="noStrike" dirty="0">
              <a:effectLst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Subset Used for Analysis:</a:t>
            </a:r>
            <a:endParaRPr lang="en-IN" sz="9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Countries (8):</a:t>
            </a:r>
            <a:r>
              <a:rPr lang="en-IN" sz="900" b="0" i="0" u="none" strike="noStrike" dirty="0">
                <a:effectLst/>
              </a:rPr>
              <a:t> Brazil (BRA), Canada (CAN), China (CHN), Germany (DEU), India (IND), Japan (JPN), South Africa (ZAF), United States (USA)</a:t>
            </a:r>
            <a:r>
              <a:rPr lang="en-IN" sz="900" b="0" i="1" u="none" strike="noStrike" dirty="0">
                <a:effectLst/>
              </a:rPr>
              <a:t>.</a:t>
            </a:r>
            <a:endParaRPr lang="en-IN" sz="9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Indicators (5):</a:t>
            </a:r>
            <a:endParaRPr lang="en-IN" sz="900" b="0" i="0" u="none" strike="noStrike" dirty="0">
              <a:effectLst/>
            </a:endParaRP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effectLst/>
              </a:rPr>
              <a:t>Access to Electricity (% of population) - EG.ELC.ACCS.ZS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effectLst/>
              </a:rPr>
              <a:t>Current Health Expenditure per capita (US$) - SH.XPD.CHEX.PC.CD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effectLst/>
              </a:rPr>
              <a:t>GDP per capita (current US$) - NY.GDP.PCAP.CD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effectLst/>
              </a:rPr>
              <a:t>Life Expectancy at birth (years) - SP.DYN.LE00.IN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0" i="0" u="none" strike="noStrike" dirty="0">
                <a:effectLst/>
              </a:rPr>
              <a:t>Urban Population (% of total) - SP.URB.TOTL.IN.ZS </a:t>
            </a:r>
            <a:r>
              <a:rPr lang="en-IN" sz="900" b="0" i="1" u="none" strike="noStrike" dirty="0">
                <a:effectLst/>
              </a:rPr>
              <a:t>(Chosen as key indicators reflecting economic status, infrastructure, and health outcomes).</a:t>
            </a:r>
            <a:endParaRPr lang="en-IN" sz="9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900" b="1" i="0" u="none" strike="noStrike" dirty="0">
                <a:effectLst/>
              </a:rPr>
              <a:t>Years:</a:t>
            </a:r>
            <a:r>
              <a:rPr lang="en-IN" sz="900" b="0" i="0" u="none" strike="noStrike" dirty="0">
                <a:effectLst/>
              </a:rPr>
              <a:t> Original data spans 1960-2022. Analysis focused on </a:t>
            </a:r>
            <a:r>
              <a:rPr lang="en-IN" sz="900" b="1" i="0" u="none" strike="noStrike" dirty="0">
                <a:effectLst/>
              </a:rPr>
              <a:t>2000-2022</a:t>
            </a:r>
            <a:r>
              <a:rPr lang="en-IN" sz="900" b="0" i="0" u="none" strike="noStrike" dirty="0">
                <a:effectLst/>
              </a:rPr>
              <a:t> due to better data completeness in this period for the selected indicators and countries.</a:t>
            </a:r>
          </a:p>
        </p:txBody>
      </p:sp>
    </p:spTree>
    <p:extLst>
      <p:ext uri="{BB962C8B-B14F-4D97-AF65-F5344CB8AC3E}">
        <p14:creationId xmlns:p14="http://schemas.microsoft.com/office/powerpoint/2010/main" val="2288448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50E9280-098D-44B3-82CE-6FF2CCA2F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70EDA1-005C-11E0-045D-9F561D881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61" y="365125"/>
            <a:ext cx="10357666" cy="1325563"/>
          </a:xfrm>
        </p:spPr>
        <p:txBody>
          <a:bodyPr>
            <a:normAutofit/>
          </a:bodyPr>
          <a:lstStyle/>
          <a:p>
            <a:r>
              <a:rPr lang="en-IN" b="1" i="0" u="none" strike="noStrike">
                <a:effectLst/>
              </a:rPr>
              <a:t>Data loading</a:t>
            </a:r>
            <a:br>
              <a:rPr lang="en-IN" b="1" i="0" u="none" strike="noStrike">
                <a:effectLst/>
              </a:rPr>
            </a:br>
            <a:endParaRPr lang="en-US"/>
          </a:p>
        </p:txBody>
      </p:sp>
      <p:sp>
        <p:nvSpPr>
          <p:cNvPr id="25" name="Rectangle 8">
            <a:extLst>
              <a:ext uri="{FF2B5EF4-FFF2-40B4-BE49-F238E27FC236}">
                <a16:creationId xmlns:a16="http://schemas.microsoft.com/office/drawing/2014/main" id="{47106F37-9751-441A-9C07-9D1F013664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481646" y="3153952"/>
            <a:ext cx="3710353" cy="3710353"/>
          </a:xfrm>
          <a:custGeom>
            <a:avLst/>
            <a:gdLst>
              <a:gd name="connsiteX0" fmla="*/ 0 w 2385918"/>
              <a:gd name="connsiteY0" fmla="*/ 0 h 2385918"/>
              <a:gd name="connsiteX1" fmla="*/ 2385918 w 2385918"/>
              <a:gd name="connsiteY1" fmla="*/ 0 h 2385918"/>
              <a:gd name="connsiteX2" fmla="*/ 2385918 w 2385918"/>
              <a:gd name="connsiteY2" fmla="*/ 2385918 h 2385918"/>
              <a:gd name="connsiteX3" fmla="*/ 0 w 2385918"/>
              <a:gd name="connsiteY3" fmla="*/ 2385918 h 2385918"/>
              <a:gd name="connsiteX4" fmla="*/ 0 w 2385918"/>
              <a:gd name="connsiteY4" fmla="*/ 0 h 2385918"/>
              <a:gd name="connsiteX0" fmla="*/ 0 w 2385918"/>
              <a:gd name="connsiteY0" fmla="*/ 0 h 2385918"/>
              <a:gd name="connsiteX1" fmla="*/ 2385918 w 2385918"/>
              <a:gd name="connsiteY1" fmla="*/ 0 h 2385918"/>
              <a:gd name="connsiteX2" fmla="*/ 0 w 2385918"/>
              <a:gd name="connsiteY2" fmla="*/ 2385918 h 2385918"/>
              <a:gd name="connsiteX3" fmla="*/ 0 w 2385918"/>
              <a:gd name="connsiteY3" fmla="*/ 0 h 2385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85918" h="2385918">
                <a:moveTo>
                  <a:pt x="0" y="0"/>
                </a:moveTo>
                <a:lnTo>
                  <a:pt x="2385918" y="0"/>
                </a:lnTo>
                <a:lnTo>
                  <a:pt x="0" y="2385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2AAA3006-7A47-4247-A973-6754F11D3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81645" y="3147647"/>
            <a:ext cx="3710353" cy="3710353"/>
          </a:xfrm>
          <a:custGeom>
            <a:avLst/>
            <a:gdLst>
              <a:gd name="connsiteX0" fmla="*/ 3710353 w 3710353"/>
              <a:gd name="connsiteY0" fmla="*/ 0 h 3710353"/>
              <a:gd name="connsiteX1" fmla="*/ 3710353 w 3710353"/>
              <a:gd name="connsiteY1" fmla="*/ 3710353 h 3710353"/>
              <a:gd name="connsiteX2" fmla="*/ 0 w 3710353"/>
              <a:gd name="connsiteY2" fmla="*/ 3710353 h 3710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0353" h="3710353">
                <a:moveTo>
                  <a:pt x="3710353" y="0"/>
                </a:moveTo>
                <a:lnTo>
                  <a:pt x="3710353" y="3710353"/>
                </a:lnTo>
                <a:lnTo>
                  <a:pt x="0" y="3710353"/>
                </a:lnTo>
                <a:close/>
              </a:path>
            </a:pathLst>
          </a:custGeom>
          <a:blipFill dpi="0" rotWithShape="0">
            <a:blip r:embed="rId2">
              <a:alphaModFix amt="9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40000" sy="4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DF7B28B2-DE91-046C-2B8B-44DB96A8B7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8156538"/>
              </p:ext>
            </p:extLst>
          </p:nvPr>
        </p:nvGraphicFramePr>
        <p:xfrm>
          <a:off x="808663" y="2019299"/>
          <a:ext cx="5701405" cy="4114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24641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CC11440-8FCC-46C6-A3E0-D0649600F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06662E8-285C-4FBD-9E3A-0D939A39C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9529" y="3026358"/>
            <a:ext cx="3745582" cy="3917703"/>
          </a:xfrm>
          <a:custGeom>
            <a:avLst/>
            <a:gdLst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1369143 w 1369143"/>
              <a:gd name="connsiteY2" fmla="*/ 1229160 h 1229160"/>
              <a:gd name="connsiteX3" fmla="*/ 0 w 1369143"/>
              <a:gd name="connsiteY3" fmla="*/ 1229160 h 1229160"/>
              <a:gd name="connsiteX4" fmla="*/ 0 w 1369143"/>
              <a:gd name="connsiteY4" fmla="*/ 0 h 1229160"/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0 w 1369143"/>
              <a:gd name="connsiteY2" fmla="*/ 1229160 h 1229160"/>
              <a:gd name="connsiteX3" fmla="*/ 0 w 1369143"/>
              <a:gd name="connsiteY3" fmla="*/ 0 h 122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143" h="1229160">
                <a:moveTo>
                  <a:pt x="0" y="0"/>
                </a:moveTo>
                <a:lnTo>
                  <a:pt x="1369143" y="0"/>
                </a:lnTo>
                <a:lnTo>
                  <a:pt x="0" y="12291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8122AAB-7FA3-4370-B5C4-2CBCAE513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29" y="3026358"/>
            <a:ext cx="3745582" cy="3917703"/>
          </a:xfrm>
          <a:custGeom>
            <a:avLst/>
            <a:gdLst>
              <a:gd name="connsiteX0" fmla="*/ 3745582 w 3745582"/>
              <a:gd name="connsiteY0" fmla="*/ 0 h 3917703"/>
              <a:gd name="connsiteX1" fmla="*/ 3745582 w 3745582"/>
              <a:gd name="connsiteY1" fmla="*/ 3917703 h 3917703"/>
              <a:gd name="connsiteX2" fmla="*/ 0 w 3745582"/>
              <a:gd name="connsiteY2" fmla="*/ 3917703 h 3917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45582" h="3917703">
                <a:moveTo>
                  <a:pt x="3745582" y="0"/>
                </a:moveTo>
                <a:lnTo>
                  <a:pt x="3745582" y="3917703"/>
                </a:lnTo>
                <a:lnTo>
                  <a:pt x="0" y="3917703"/>
                </a:lnTo>
                <a:close/>
              </a:path>
            </a:pathLst>
          </a:custGeom>
          <a:blipFill dpi="0" rotWithShape="0">
            <a:blip r:embed="rId2">
              <a:alphaModFix amt="9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40000" sy="4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91886A-5711-490B-85D0-6915F4920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7185" y="558906"/>
            <a:ext cx="10208356" cy="522671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02D6DD-82CB-9040-45E3-B6935366E3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8185"/>
          <a:stretch>
            <a:fillRect/>
          </a:stretch>
        </p:blipFill>
        <p:spPr>
          <a:xfrm>
            <a:off x="807294" y="813968"/>
            <a:ext cx="10622150" cy="5242029"/>
          </a:xfrm>
          <a:prstGeom prst="rect">
            <a:avLst/>
          </a:prstGeom>
          <a:effectLst>
            <a:outerShdw dist="165100" dir="8400000" algn="bl" rotWithShape="0">
              <a:schemeClr val="tx1"/>
            </a:outerShdw>
          </a:effectLst>
        </p:spPr>
      </p:pic>
    </p:spTree>
    <p:extLst>
      <p:ext uri="{BB962C8B-B14F-4D97-AF65-F5344CB8AC3E}">
        <p14:creationId xmlns:p14="http://schemas.microsoft.com/office/powerpoint/2010/main" val="1195744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6ECC43-D65E-4A7B-A76B-D278A2184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E2193E-B06A-FF98-3158-E426E70A87E5}"/>
              </a:ext>
            </a:extLst>
          </p:cNvPr>
          <p:cNvSpPr txBox="1"/>
          <p:nvPr/>
        </p:nvSpPr>
        <p:spPr>
          <a:xfrm>
            <a:off x="1600200" y="699591"/>
            <a:ext cx="7638168" cy="14704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0" i="0" u="none" strike="noStrike" cap="all" spc="700" dirty="0">
                <a:effectLst/>
                <a:latin typeface="+mj-lt"/>
                <a:ea typeface="+mj-ea"/>
                <a:cs typeface="+mj-cs"/>
              </a:rPr>
              <a:t>Filtering &amp; Data Wrangling (Melting)</a:t>
            </a:r>
            <a:endParaRPr lang="en-US" sz="3200" cap="all" spc="700" dirty="0">
              <a:latin typeface="+mj-lt"/>
              <a:ea typeface="+mj-ea"/>
              <a:cs typeface="+mj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8BF347-7D45-A937-0943-E9E9178F32E5}"/>
              </a:ext>
            </a:extLst>
          </p:cNvPr>
          <p:cNvSpPr txBox="1"/>
          <p:nvPr/>
        </p:nvSpPr>
        <p:spPr>
          <a:xfrm>
            <a:off x="1600200" y="2476499"/>
            <a:ext cx="7638168" cy="36148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>
                <a:latin typeface="+mj-lt"/>
              </a:rPr>
              <a:t>Objective:</a:t>
            </a:r>
            <a:r>
              <a:rPr lang="en-US" sz="1600">
                <a:latin typeface="+mj-lt"/>
              </a:rPr>
              <a:t> Select only the required countries and indicators, then reshape the data from wide to long format using melt for easier analysis.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>
                <a:latin typeface="+mj-lt"/>
              </a:rPr>
              <a:t>Steps:</a:t>
            </a:r>
            <a:endParaRPr lang="en-US" sz="1600">
              <a:latin typeface="+mj-lt"/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</a:rPr>
              <a:t>Defined lists for target Countries and Indicator_codes.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</a:rPr>
              <a:t>Filtered the DataFrame df based on these lists.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</a:rPr>
              <a:t>Selected relevant columns (Country Name, Country Code, Indicator Name, Indicator Code, and year columns 1960-2022).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</a:rPr>
              <a:t>Applied the melt function to convert year columns into rows, creating 'Year' and 'Value' columns.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>
                <a:latin typeface="+mj-lt"/>
              </a:rPr>
              <a:t>Converted 'Year' to integer and 'Value' to numeric (handling potential errors).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22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AEE04F3-C44B-13A0-F714-CE874243E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832" y="176270"/>
            <a:ext cx="5056333" cy="44428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C84E9B-B475-50E4-AA41-69872E3B2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6830" y="4741275"/>
            <a:ext cx="7458339" cy="194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0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B6ECC43-D65E-4A7B-A76B-D278A2184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1626076" y="3551521"/>
            <a:ext cx="567782" cy="3306479"/>
            <a:chOff x="11619770" y="-2005"/>
            <a:chExt cx="567782" cy="3306479"/>
          </a:xfrm>
        </p:grpSpPr>
        <p:sp>
          <p:nvSpPr>
            <p:cNvPr id="22" name="Freeform: Shape 12">
              <a:extLst>
                <a:ext uri="{FF2B5EF4-FFF2-40B4-BE49-F238E27FC236}">
                  <a16:creationId xmlns:a16="http://schemas.microsoft.com/office/drawing/2014/main" id="{7EE443C5-5AB9-407B-A8C3-011BB14FE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619770" y="373807"/>
              <a:ext cx="526228" cy="2930667"/>
            </a:xfrm>
            <a:custGeom>
              <a:avLst/>
              <a:gdLst>
                <a:gd name="connsiteX0" fmla="*/ 757287 w 757287"/>
                <a:gd name="connsiteY0" fmla="*/ 3694096 h 3694096"/>
                <a:gd name="connsiteX1" fmla="*/ 757287 w 757287"/>
                <a:gd name="connsiteY1" fmla="*/ 0 h 3694096"/>
                <a:gd name="connsiteX2" fmla="*/ 0 w 757287"/>
                <a:gd name="connsiteY2" fmla="*/ 0 h 3694096"/>
                <a:gd name="connsiteX3" fmla="*/ 0 w 757287"/>
                <a:gd name="connsiteY3" fmla="*/ 3686094 h 369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7287" h="3694096">
                  <a:moveTo>
                    <a:pt x="757287" y="3694096"/>
                  </a:moveTo>
                  <a:lnTo>
                    <a:pt x="757287" y="0"/>
                  </a:lnTo>
                  <a:lnTo>
                    <a:pt x="0" y="0"/>
                  </a:lnTo>
                  <a:lnTo>
                    <a:pt x="0" y="3686094"/>
                  </a:lnTo>
                  <a:close/>
                </a:path>
              </a:pathLst>
            </a:cu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38C9FA-DA5E-4785-8F4A-CA481A3A65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11980943" y="-200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024122-C80E-4076-B618-426FF2225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7B381-5F00-248A-E6C0-499E4C580CCF}"/>
              </a:ext>
            </a:extLst>
          </p:cNvPr>
          <p:cNvSpPr txBox="1"/>
          <p:nvPr/>
        </p:nvSpPr>
        <p:spPr>
          <a:xfrm>
            <a:off x="1600203" y="773723"/>
            <a:ext cx="5780312" cy="13970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500" b="0" i="0" u="none" strike="noStrike" cap="all" spc="700" dirty="0">
                <a:effectLst/>
                <a:latin typeface="+mj-lt"/>
                <a:ea typeface="+mj-ea"/>
                <a:cs typeface="+mj-cs"/>
              </a:rPr>
              <a:t>Data Cleaning (Missing Value Analysis)</a:t>
            </a:r>
            <a:endParaRPr lang="en-US" sz="2500" cap="all" spc="700" dirty="0"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29DAB2C-3574-4B22-939F-BB6C5D263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81000" cy="3664635"/>
            <a:chOff x="5006254" y="-1431285"/>
            <a:chExt cx="581000" cy="3664635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BD37F6-BAB4-4BBF-B3E2-4395EAB8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61025" y="-788944"/>
              <a:ext cx="526229" cy="3022294"/>
            </a:xfrm>
            <a:prstGeom prst="rect">
              <a:avLst/>
            </a:pr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9809A8D-5A7C-4A05-9F64-844C66FAB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06254" y="-143128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425C707-84A2-25B2-6CA3-C9F04480CA90}"/>
              </a:ext>
            </a:extLst>
          </p:cNvPr>
          <p:cNvSpPr txBox="1"/>
          <p:nvPr/>
        </p:nvSpPr>
        <p:spPr>
          <a:xfrm>
            <a:off x="1600201" y="2411060"/>
            <a:ext cx="5780313" cy="37566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None/>
            </a:pPr>
            <a:endParaRPr lang="en-US" sz="1500" b="1" i="0" u="none" strike="noStrike" dirty="0">
              <a:effectLst/>
              <a:latin typeface="+mj-lt"/>
            </a:endParaRP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  <a:latin typeface="+mj-lt"/>
              </a:rPr>
              <a:t>Objective:</a:t>
            </a:r>
            <a:r>
              <a:rPr lang="en-US" sz="1500" b="0" i="0" u="none" strike="noStrike" dirty="0">
                <a:effectLst/>
                <a:latin typeface="+mj-lt"/>
              </a:rPr>
              <a:t> Identify and quantify missing data (</a:t>
            </a:r>
            <a:r>
              <a:rPr lang="en-US" sz="1500" b="0" i="0" u="none" strike="noStrike" dirty="0" err="1">
                <a:effectLst/>
                <a:latin typeface="+mj-lt"/>
              </a:rPr>
              <a:t>NaNs</a:t>
            </a:r>
            <a:r>
              <a:rPr lang="en-US" sz="1500" b="0" i="0" u="none" strike="noStrike" dirty="0">
                <a:effectLst/>
                <a:latin typeface="+mj-lt"/>
              </a:rPr>
              <a:t>) to determine the optimal time range for reliable analysis.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i="0" u="none" strike="noStrike" dirty="0">
                <a:effectLst/>
                <a:latin typeface="+mj-lt"/>
              </a:rPr>
              <a:t>Method:</a:t>
            </a:r>
            <a:endParaRPr lang="en-US" sz="1500" b="0" i="0" u="none" strike="noStrike" dirty="0">
              <a:effectLst/>
              <a:latin typeface="+mj-lt"/>
            </a:endParaRPr>
          </a:p>
          <a:p>
            <a:pPr marL="74295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  <a:latin typeface="+mj-lt"/>
              </a:rPr>
              <a:t>Created a helper column </a:t>
            </a:r>
            <a:r>
              <a:rPr lang="en-US" sz="1500" b="0" i="0" u="none" strike="noStrike" dirty="0" err="1">
                <a:effectLst/>
                <a:latin typeface="+mj-lt"/>
              </a:rPr>
              <a:t>is_na</a:t>
            </a:r>
            <a:r>
              <a:rPr lang="en-US" sz="1500" b="0" i="0" u="none" strike="noStrike" dirty="0">
                <a:effectLst/>
                <a:latin typeface="+mj-lt"/>
              </a:rPr>
              <a:t> (1 if Value is </a:t>
            </a:r>
            <a:r>
              <a:rPr lang="en-US" sz="1500" b="0" i="0" u="none" strike="noStrike" dirty="0" err="1">
                <a:effectLst/>
                <a:latin typeface="+mj-lt"/>
              </a:rPr>
              <a:t>NaN</a:t>
            </a:r>
            <a:r>
              <a:rPr lang="en-US" sz="1500" b="0" i="0" u="none" strike="noStrike" dirty="0">
                <a:effectLst/>
                <a:latin typeface="+mj-lt"/>
              </a:rPr>
              <a:t>, 0 otherwise).</a:t>
            </a:r>
          </a:p>
          <a:p>
            <a:pPr marL="74295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  <a:latin typeface="+mj-lt"/>
              </a:rPr>
              <a:t>Grouped the tidy </a:t>
            </a:r>
            <a:r>
              <a:rPr lang="en-US" sz="1500" b="0" i="0" u="none" strike="noStrike" dirty="0" err="1">
                <a:effectLst/>
                <a:latin typeface="+mj-lt"/>
              </a:rPr>
              <a:t>DataFrame</a:t>
            </a:r>
            <a:r>
              <a:rPr lang="en-US" sz="1500" b="0" i="0" u="none" strike="noStrike" dirty="0">
                <a:effectLst/>
                <a:latin typeface="+mj-lt"/>
              </a:rPr>
              <a:t> by 'Year' and summed the </a:t>
            </a:r>
            <a:r>
              <a:rPr lang="en-US" sz="1500" b="0" i="0" u="none" strike="noStrike" dirty="0" err="1">
                <a:effectLst/>
                <a:latin typeface="+mj-lt"/>
              </a:rPr>
              <a:t>is_na</a:t>
            </a:r>
            <a:r>
              <a:rPr lang="en-US" sz="1500" b="0" i="0" u="none" strike="noStrike" dirty="0">
                <a:effectLst/>
                <a:latin typeface="+mj-lt"/>
              </a:rPr>
              <a:t> column to get a count of missing values per year.</a:t>
            </a:r>
          </a:p>
          <a:p>
            <a:pPr marL="742950" lvl="1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0" i="0" u="none" strike="noStrike" dirty="0">
                <a:effectLst/>
                <a:latin typeface="+mj-lt"/>
              </a:rPr>
              <a:t>Examined the head (early years) and tail (recent years) of these counts.</a:t>
            </a:r>
          </a:p>
        </p:txBody>
      </p:sp>
      <p:pic>
        <p:nvPicPr>
          <p:cNvPr id="9" name="Graphic 8" descr="Mop and bucket">
            <a:extLst>
              <a:ext uri="{FF2B5EF4-FFF2-40B4-BE49-F238E27FC236}">
                <a16:creationId xmlns:a16="http://schemas.microsoft.com/office/drawing/2014/main" id="{DC794FCA-6620-4F98-E36F-D9FA7D66D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6761" y="1950207"/>
            <a:ext cx="3074962" cy="30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3729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2D7848-30F2-775A-8ECE-D36B4D10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660" y="0"/>
            <a:ext cx="58104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F0C548-7B34-916E-2D94-103A5EF054F2}"/>
              </a:ext>
            </a:extLst>
          </p:cNvPr>
          <p:cNvSpPr txBox="1"/>
          <p:nvPr/>
        </p:nvSpPr>
        <p:spPr>
          <a:xfrm>
            <a:off x="7344320" y="2767280"/>
            <a:ext cx="40290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1600" dirty="0">
                <a:solidFill>
                  <a:schemeClr val="bg2">
                    <a:lumMod val="25000"/>
                  </a:schemeClr>
                </a:solidFill>
                <a:latin typeface="+mj-lt"/>
              </a:rPr>
            </a:br>
            <a:r>
              <a:rPr lang="en-IN" sz="16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The analysis confirmed </a:t>
            </a:r>
            <a:r>
              <a:rPr lang="en-IN" sz="16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zero missing values</a:t>
            </a:r>
            <a:r>
              <a:rPr lang="en-IN" sz="16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for the selected subset between </a:t>
            </a:r>
            <a:r>
              <a:rPr lang="en-IN" sz="16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2000 and 2022</a:t>
            </a:r>
            <a:r>
              <a:rPr lang="en-IN" sz="160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. This period was chosen for further analysis.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41654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2C7570-A423-636B-23BE-5813A0C2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44397"/>
            <a:ext cx="7638168" cy="1470404"/>
          </a:xfrm>
        </p:spPr>
        <p:txBody>
          <a:bodyPr anchor="b">
            <a:normAutofit/>
          </a:bodyPr>
          <a:lstStyle/>
          <a:p>
            <a:r>
              <a:rPr lang="en-IN" b="0" i="0" u="none" strike="noStrike" dirty="0">
                <a:effectLst/>
                <a:latin typeface="-webkit-standard"/>
              </a:rPr>
              <a:t>Creating Final Analysis </a:t>
            </a:r>
            <a:r>
              <a:rPr lang="en-IN" b="0" i="0" u="none" strike="noStrike" dirty="0" err="1">
                <a:effectLst/>
                <a:latin typeface="-webkit-standard"/>
              </a:rPr>
              <a:t>DataFrame</a:t>
            </a:r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55AE5-59E6-2BB5-8F07-FFAC638CE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021305"/>
            <a:ext cx="7638168" cy="3614813"/>
          </a:xfrm>
        </p:spPr>
        <p:txBody>
          <a:bodyPr>
            <a:normAutofit/>
          </a:bodyPr>
          <a:lstStyle/>
          <a:p>
            <a:r>
              <a:rPr lang="en-IN" b="1" i="0" u="none" strike="noStrike" dirty="0">
                <a:effectLst/>
              </a:rPr>
              <a:t>Objective:</a:t>
            </a:r>
            <a:r>
              <a:rPr lang="en-IN" b="0" i="0" u="none" strike="noStrike" dirty="0">
                <a:effectLst/>
                <a:latin typeface="-webkit-standard"/>
              </a:rPr>
              <a:t> Isolate the clean data (2000-2022) into a dedicated </a:t>
            </a:r>
            <a:r>
              <a:rPr lang="en-IN" b="0" i="0" u="none" strike="noStrike" dirty="0" err="1">
                <a:effectLst/>
                <a:latin typeface="-webkit-standard"/>
              </a:rPr>
              <a:t>DataFrame</a:t>
            </a:r>
            <a:r>
              <a:rPr lang="en-IN" b="0" i="0" u="none" strike="noStrike" dirty="0">
                <a:effectLst/>
                <a:latin typeface="-webkit-standard"/>
              </a:rPr>
              <a:t> </a:t>
            </a:r>
            <a:r>
              <a:rPr lang="en-IN" dirty="0"/>
              <a:t>analysis</a:t>
            </a:r>
            <a:r>
              <a:rPr lang="en-IN" b="0" i="0" u="none" strike="noStrike" dirty="0">
                <a:effectLst/>
                <a:latin typeface="-webkit-standard"/>
              </a:rPr>
              <a:t> and verify its integrity.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29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023B5-69CE-733E-A56A-A017ED7C7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3092497"/>
            <a:ext cx="7772400" cy="342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953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1AD885-FB01-2D2F-E955-FCFAE82DC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450" y="1193800"/>
            <a:ext cx="75311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1EDD-96F8-A7BE-1BB3-4A385D8E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Descriptive Statistics (Overall Indicators)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F3101-80B1-C3A4-C620-CDE66E9AF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Objective: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Understand the general distribution (mean, spread, range) of each selected indicator across all 8 countries during the 2000-2022 period.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3A1379-F9DA-F93E-D3E6-7606E9DAC9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54"/>
          <a:stretch/>
        </p:blipFill>
        <p:spPr>
          <a:xfrm>
            <a:off x="2347876" y="3150430"/>
            <a:ext cx="7313917" cy="342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43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296D3-2412-285D-733C-8E90CF428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99591"/>
            <a:ext cx="7638168" cy="1470404"/>
          </a:xfrm>
        </p:spPr>
        <p:txBody>
          <a:bodyPr anchor="b">
            <a:normAutofit/>
          </a:bodyPr>
          <a:lstStyle/>
          <a:p>
            <a:r>
              <a:rPr lang="en-IN" b="1" i="0" u="none" strike="noStrike" dirty="0">
                <a:effectLst/>
              </a:rPr>
              <a:t>Descriptive Statistics Per Country (2000-2022)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5DBAB-A58C-EA2A-66F3-B615FE833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476499"/>
            <a:ext cx="7638168" cy="36148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effectLst/>
              </a:rPr>
              <a:t>Objective:</a:t>
            </a:r>
            <a:r>
              <a:rPr lang="en-IN" b="0" i="0" u="none" strike="noStrike" dirty="0">
                <a:effectLst/>
              </a:rPr>
              <a:t> Examine summary statistics (mean, min, max, std dev, quartiles) for each indicator, broken down by individual country, across the entire </a:t>
            </a:r>
            <a:r>
              <a:rPr lang="en-IN" b="1" i="0" u="none" strike="noStrike" dirty="0">
                <a:effectLst/>
              </a:rPr>
              <a:t>2000-2022</a:t>
            </a:r>
            <a:r>
              <a:rPr lang="en-IN" b="0" i="0" u="none" strike="noStrike" dirty="0">
                <a:effectLst/>
              </a:rPr>
              <a:t> analysis period. This helps understand the typical range and variation for each country over time.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203895A-01DA-E410-58F2-27CB3A404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51" y="1356924"/>
            <a:ext cx="8570502" cy="43828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D6F89-5E9D-01AE-7664-6B3EC7085B64}"/>
              </a:ext>
            </a:extLst>
          </p:cNvPr>
          <p:cNvSpPr txBox="1"/>
          <p:nvPr/>
        </p:nvSpPr>
        <p:spPr>
          <a:xfrm>
            <a:off x="7119468" y="1118212"/>
            <a:ext cx="47095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IN" sz="16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</a:br>
            <a:r>
              <a:rPr lang="en-IN" sz="1600" b="1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Insights:</a:t>
            </a:r>
            <a:r>
              <a:rPr lang="en-IN" sz="1600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This provides a detailed statistical profile for each country regarding each indicator over the selected timeframe, showing central tendency, dispersion, and range of values experienced during 2000-2022.</a:t>
            </a:r>
            <a:endParaRPr lang="en-US" sz="1600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8332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BE3DC3-8F1C-8507-F4A4-76BB3FC91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99591"/>
            <a:ext cx="7638168" cy="1470404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IN" sz="2700" b="0" i="0" u="none" strike="noStrike">
                <a:effectLst/>
              </a:rPr>
              <a:t>Latest Year (2022) Analysis: Rankings &amp; Correlation</a:t>
            </a:r>
            <a:endParaRPr lang="en-US" sz="27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1E125-62E7-29D3-A0F3-E1B374010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476499"/>
            <a:ext cx="7638168" cy="361481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effectLst/>
              </a:rPr>
              <a:t>Objective:</a:t>
            </a:r>
            <a:r>
              <a:rPr lang="en-IN" b="0" i="0" u="none" strike="noStrike" dirty="0">
                <a:effectLst/>
              </a:rPr>
              <a:t> Focus specifically on the </a:t>
            </a:r>
            <a:r>
              <a:rPr lang="en-IN" b="1" i="0" u="none" strike="noStrike" dirty="0">
                <a:effectLst/>
              </a:rPr>
              <a:t>most recent year (2022)</a:t>
            </a:r>
            <a:r>
              <a:rPr lang="en-IN" b="0" i="0" u="none" strike="noStrike" dirty="0">
                <a:effectLst/>
              </a:rPr>
              <a:t> to understand current rankings between countries for each indicator and to assess how the indicators relate to each other in that specific year.</a:t>
            </a:r>
          </a:p>
          <a:p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3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364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944238-4DFB-BC11-1DDD-A2EEBDC99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61" y="1208272"/>
            <a:ext cx="6211676" cy="4441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1A3CBB-C690-A5E1-7D86-8888566FC184}"/>
              </a:ext>
            </a:extLst>
          </p:cNvPr>
          <p:cNvSpPr txBox="1"/>
          <p:nvPr/>
        </p:nvSpPr>
        <p:spPr>
          <a:xfrm>
            <a:off x="6658037" y="1208272"/>
            <a:ext cx="51696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Identifies the leading and lagging countries for each specific indicator </a:t>
            </a:r>
            <a:r>
              <a:rPr lang="en-IN" b="0" i="1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in 2022</a:t>
            </a:r>
            <a:r>
              <a:rPr lang="en-IN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0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EC5F43-D8DA-EA38-0050-28D61D5F3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74" y="2000878"/>
            <a:ext cx="11352560" cy="28562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F2D747-B273-AFC8-E5FE-C8A6F72207D8}"/>
              </a:ext>
            </a:extLst>
          </p:cNvPr>
          <p:cNvSpPr txBox="1"/>
          <p:nvPr/>
        </p:nvSpPr>
        <p:spPr>
          <a:xfrm>
            <a:off x="6096000" y="800549"/>
            <a:ext cx="50268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Reveals the strength and direction of linear relationships between pairs of indicators </a:t>
            </a:r>
            <a:r>
              <a:rPr lang="en-IN" b="0" i="1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in 2022</a:t>
            </a:r>
            <a:r>
              <a:rPr lang="en-IN" b="0" i="0" u="none" strike="noStrike" dirty="0">
                <a:solidFill>
                  <a:schemeClr val="bg2">
                    <a:lumMod val="25000"/>
                  </a:schemeClr>
                </a:solidFill>
                <a:effectLst/>
                <a:latin typeface="+mj-lt"/>
              </a:rPr>
              <a:t> (e.g., strong positive correlation between GDP p.c. and Health Expenditure p.c.).</a:t>
            </a:r>
            <a:endParaRPr lang="en-US" dirty="0">
              <a:solidFill>
                <a:schemeClr val="bg2">
                  <a:lumMod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31172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C024122-C80E-4076-B618-426FF2225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C333D-59AA-A833-886D-D50A34DD2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2" y="773723"/>
            <a:ext cx="9791698" cy="1397004"/>
          </a:xfrm>
        </p:spPr>
        <p:txBody>
          <a:bodyPr anchor="b">
            <a:normAutofit/>
          </a:bodyPr>
          <a:lstStyle/>
          <a:p>
            <a:r>
              <a:rPr lang="en-IN" sz="3000" b="1" i="0" u="none" strike="noStrike" dirty="0">
                <a:effectLst/>
              </a:rPr>
              <a:t>LINE CHART: Life Expectancy Trends (Code &amp; Plot)</a:t>
            </a:r>
            <a:endParaRPr lang="en-US" sz="30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29DAB2C-3574-4B22-939F-BB6C5D263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81000" cy="3664635"/>
            <a:chOff x="5006254" y="-1431285"/>
            <a:chExt cx="581000" cy="36646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6BD37F6-BAB4-4BBF-B3E2-4395EAB83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61025" y="-788944"/>
              <a:ext cx="526229" cy="3022294"/>
            </a:xfrm>
            <a:prstGeom prst="rect">
              <a:avLst/>
            </a:pr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9809A8D-5A7C-4A05-9F64-844C66FAB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06254" y="-143128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E4CCB-06A6-100D-F0EC-B45FBE492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3" y="2411060"/>
            <a:ext cx="4795574" cy="37566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effectLst/>
              </a:rPr>
              <a:t>Objective:</a:t>
            </a:r>
            <a:r>
              <a:rPr lang="en-IN" b="0" i="0" u="none" strike="noStrike" dirty="0">
                <a:effectLst/>
              </a:rPr>
              <a:t> Visualize and compare the change in Life Expectancy over time (</a:t>
            </a:r>
            <a:r>
              <a:rPr lang="en-IN" b="1" i="0" u="none" strike="noStrike" dirty="0">
                <a:effectLst/>
              </a:rPr>
              <a:t>2000-2022</a:t>
            </a:r>
            <a:r>
              <a:rPr lang="en-IN" b="0" i="0" u="none" strike="noStrike" dirty="0">
                <a:effectLst/>
              </a:rPr>
              <a:t>) for each country.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ACC133-7012-D89D-9C68-2FECC71DB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312" y="2411060"/>
            <a:ext cx="5401792" cy="36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777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7B6FE-6008-0246-6702-FCA9EB136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67" y="318496"/>
            <a:ext cx="10357666" cy="797687"/>
          </a:xfrm>
        </p:spPr>
        <p:txBody>
          <a:bodyPr/>
          <a:lstStyle/>
          <a:p>
            <a:pPr algn="ctr"/>
            <a:r>
              <a:rPr lang="en-US" dirty="0"/>
              <a:t>Line chart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6220FB-C5B0-71EE-3E6F-892E1B67D5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25799"/>
            <a:ext cx="7772400" cy="500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263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441432-6D0E-C78A-4206-18415D79F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6915" y="432662"/>
            <a:ext cx="7638168" cy="851834"/>
          </a:xfrm>
        </p:spPr>
        <p:txBody>
          <a:bodyPr anchor="b">
            <a:normAutofit/>
          </a:bodyPr>
          <a:lstStyle/>
          <a:p>
            <a:pPr algn="ctr"/>
            <a:r>
              <a:rPr lang="en-IN" b="0" i="0" u="none" strike="noStrike" dirty="0">
                <a:effectLst/>
              </a:rPr>
              <a:t>LINE CHART: Description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AD56B-2683-6C4F-19CF-7FA81D44A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1284" y="1717158"/>
            <a:ext cx="7769431" cy="369570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endParaRPr lang="en-IN" sz="1100" b="1" i="0" u="none" strike="noStrike" dirty="0">
              <a:effectLst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Question Answered:</a:t>
            </a:r>
            <a:r>
              <a:rPr lang="en-IN" sz="1100" b="0" i="0" u="none" strike="noStrike" dirty="0">
                <a:effectLst/>
              </a:rPr>
              <a:t> How has life expectancy changed from 2000-2022 for these countries, and how do they compare?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Visualization Design:</a:t>
            </a:r>
            <a:endParaRPr lang="en-IN" sz="11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Type:</a:t>
            </a:r>
            <a:r>
              <a:rPr lang="en-IN" sz="1100" b="0" i="0" u="none" strike="noStrike" dirty="0">
                <a:effectLst/>
              </a:rPr>
              <a:t> Line chart. Chosen because it's effective for showing trends of continuous data (life expectancy) over time (years).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Marks:</a:t>
            </a:r>
            <a:r>
              <a:rPr lang="en-IN" sz="1100" b="0" i="0" u="none" strike="noStrike" dirty="0">
                <a:effectLst/>
              </a:rPr>
              <a:t> Lines (one distinct line representing each country).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Channels:</a:t>
            </a:r>
            <a:endParaRPr lang="en-IN" sz="1100" b="0" i="0" u="none" strike="noStrike" dirty="0">
              <a:effectLst/>
            </a:endParaRP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X-Position encodes Year (quantitative).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Y-Position encodes Life Expectancy (quantitative).</a:t>
            </a:r>
          </a:p>
          <a:p>
            <a:pPr marL="1143000" lvl="2" indent="-2286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 err="1">
                <a:effectLst/>
              </a:rPr>
              <a:t>Color</a:t>
            </a:r>
            <a:r>
              <a:rPr lang="en-IN" sz="1100" b="0" i="0" u="none" strike="noStrike" dirty="0">
                <a:effectLst/>
              </a:rPr>
              <a:t> encodes Country Code (categorical), allowing differentiation between lines.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1" i="0" u="none" strike="noStrike" dirty="0">
                <a:effectLst/>
              </a:rPr>
              <a:t>How it Answers the Question:</a:t>
            </a:r>
            <a:endParaRPr lang="en-IN" sz="11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The slope of each line shows the trend (increasing, decreasing, fluctuating) for that country over the 22-year period.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The vertical position allows comparison of absolute life expectancy levels between countries at any given year.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Differences in slopes indicate different rates of change.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100" b="0" i="0" u="none" strike="noStrike" dirty="0">
                <a:effectLst/>
              </a:rPr>
              <a:t>Reveals overall increase for most, Japan's high level, and South Africa's distinct pattern (dip and recovery).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92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9D6D29B-CE0F-43B0-AD58-007C16D88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E950B4-27EC-9193-A010-70AFFA0F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2" y="365124"/>
            <a:ext cx="10278577" cy="1325563"/>
          </a:xfrm>
        </p:spPr>
        <p:txBody>
          <a:bodyPr>
            <a:normAutofit/>
          </a:bodyPr>
          <a:lstStyle/>
          <a:p>
            <a:r>
              <a:rPr lang="en-IN" b="0" i="0" u="none" strike="noStrike">
                <a:effectLst/>
                <a:latin typeface="-webkit-standard"/>
              </a:rPr>
              <a:t>SCATTER PLOT: GDP vs. Life Expectancy (Code &amp; Plot)</a:t>
            </a:r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6BE796-9648-4A96-8E5C-7FDB123C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985391" y="-2005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6">
            <a:extLst>
              <a:ext uri="{FF2B5EF4-FFF2-40B4-BE49-F238E27FC236}">
                <a16:creationId xmlns:a16="http://schemas.microsoft.com/office/drawing/2014/main" id="{CC80F6C1-29FB-45B3-A9F9-16B817804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374" y="3546803"/>
            <a:ext cx="3236826" cy="3385568"/>
          </a:xfrm>
          <a:custGeom>
            <a:avLst/>
            <a:gdLst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1369143 w 1369143"/>
              <a:gd name="connsiteY2" fmla="*/ 1229160 h 1229160"/>
              <a:gd name="connsiteX3" fmla="*/ 0 w 1369143"/>
              <a:gd name="connsiteY3" fmla="*/ 1229160 h 1229160"/>
              <a:gd name="connsiteX4" fmla="*/ 0 w 1369143"/>
              <a:gd name="connsiteY4" fmla="*/ 0 h 1229160"/>
              <a:gd name="connsiteX0" fmla="*/ 0 w 1369143"/>
              <a:gd name="connsiteY0" fmla="*/ 0 h 1229160"/>
              <a:gd name="connsiteX1" fmla="*/ 1369143 w 1369143"/>
              <a:gd name="connsiteY1" fmla="*/ 0 h 1229160"/>
              <a:gd name="connsiteX2" fmla="*/ 0 w 1369143"/>
              <a:gd name="connsiteY2" fmla="*/ 1229160 h 1229160"/>
              <a:gd name="connsiteX3" fmla="*/ 0 w 1369143"/>
              <a:gd name="connsiteY3" fmla="*/ 0 h 1229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143" h="1229160">
                <a:moveTo>
                  <a:pt x="0" y="0"/>
                </a:moveTo>
                <a:lnTo>
                  <a:pt x="1369143" y="0"/>
                </a:lnTo>
                <a:lnTo>
                  <a:pt x="0" y="12291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4EA3CD6-21DD-324D-9D6E-19907B2A6E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85" b="3"/>
          <a:stretch>
            <a:fillRect/>
          </a:stretch>
        </p:blipFill>
        <p:spPr>
          <a:xfrm>
            <a:off x="257590" y="1940030"/>
            <a:ext cx="5655599" cy="466862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8D41-827F-8315-948F-6D2C1F682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86609"/>
            <a:ext cx="4988119" cy="39237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u="none" strike="noStrike">
                <a:effectLst/>
              </a:rPr>
              <a:t>Objective:</a:t>
            </a:r>
            <a:r>
              <a:rPr lang="en-IN" b="0" i="0" u="none" strike="noStrike">
                <a:effectLst/>
              </a:rPr>
              <a:t> Explore the potential relationship between national wealth (GDP per capita) and health outcome (Life Expectancy) specifically </a:t>
            </a:r>
            <a:r>
              <a:rPr lang="en-IN" b="1" i="0" u="none" strike="noStrike">
                <a:effectLst/>
              </a:rPr>
              <a:t>for the year 2022</a:t>
            </a:r>
            <a:r>
              <a:rPr lang="en-IN" b="0" i="0" u="none" strike="noStrike">
                <a:effectLst/>
              </a:rPr>
              <a:t>.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5440BF0-CCE6-42AA-8970-78523D4C1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619770" y="373807"/>
            <a:ext cx="526228" cy="2930667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46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3EBF-F658-FA18-1641-92E8264CC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67" y="715653"/>
            <a:ext cx="10357666" cy="981044"/>
          </a:xfrm>
        </p:spPr>
        <p:txBody>
          <a:bodyPr/>
          <a:lstStyle/>
          <a:p>
            <a:pPr algn="ctr"/>
            <a:r>
              <a:rPr lang="en-US" dirty="0"/>
              <a:t>SCATTER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D08FE-C11F-EC16-8EF3-55C80DB53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644" y="2200069"/>
            <a:ext cx="77597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74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02AED-3637-4D65-F99B-D730845DC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07" y="304584"/>
            <a:ext cx="7638168" cy="1306467"/>
          </a:xfrm>
        </p:spPr>
        <p:txBody>
          <a:bodyPr anchor="b">
            <a:normAutofit/>
          </a:bodyPr>
          <a:lstStyle/>
          <a:p>
            <a:pPr algn="ctr"/>
            <a:r>
              <a:rPr lang="en-IN" b="0" i="0" u="none" strike="noStrike" dirty="0">
                <a:effectLst/>
              </a:rPr>
              <a:t>SCATTER PLOT: Description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6690-F16F-F9DF-46F1-778CF0141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0307" y="2011929"/>
            <a:ext cx="7638168" cy="440324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1050" b="1" dirty="0"/>
              <a:t>Question Answered:</a:t>
            </a:r>
            <a:r>
              <a:rPr lang="en-IN" sz="1050" dirty="0"/>
              <a:t> Is there a relationship between a country's GDP per capita and its life expectancy </a:t>
            </a:r>
            <a:r>
              <a:rPr lang="en-IN" sz="1050" b="1" dirty="0"/>
              <a:t>in 2022</a:t>
            </a:r>
            <a:r>
              <a:rPr lang="en-IN" sz="1050" dirty="0"/>
              <a:t> for this group?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/>
              <a:t>Visualization Design:</a:t>
            </a:r>
            <a:endParaRPr lang="en-IN" sz="105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Type:</a:t>
            </a:r>
            <a:r>
              <a:rPr lang="en-IN" sz="1050" dirty="0"/>
              <a:t> Scatter plot. Standard choice for visualizing the relationship (correlation) between two quantitative variables at a specific point in time (2022).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Marks:</a:t>
            </a:r>
            <a:r>
              <a:rPr lang="en-IN" sz="1050" dirty="0"/>
              <a:t> Points (each point represents one country).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Channels:</a:t>
            </a:r>
            <a:endParaRPr lang="en-IN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X-Position encodes GDP per capita (quantitative).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Y-Position encodes Life Expectancy (quantitative).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Text Label annotates each point with its Country Code (categorical identifier).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/>
              <a:t>How it Answers the Question:</a:t>
            </a:r>
            <a:endParaRPr lang="en-IN" sz="105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050" b="0" i="0" u="none" strike="noStrike" dirty="0">
                <a:solidFill>
                  <a:srgbClr val="000000"/>
                </a:solidFill>
                <a:effectLst/>
              </a:rPr>
              <a:t>The pattern of points indicates the type and strength of the relationship. A general upward trend is visible, suggesting a positive association.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050" b="0" i="0" u="none" strike="noStrike" dirty="0">
                <a:solidFill>
                  <a:srgbClr val="000000"/>
                </a:solidFill>
                <a:effectLst/>
              </a:rPr>
              <a:t>Allows identification of individual country positions relative to the trend in 2022 (e.g., US high GDP, mid-range life expectancy in this group; IND/ZAF lower on both).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050" b="0" i="0" u="none" strike="noStrike" dirty="0">
                <a:solidFill>
                  <a:srgbClr val="000000"/>
                </a:solidFill>
                <a:effectLst/>
              </a:rPr>
              <a:t>Visually supports the </a:t>
            </a:r>
            <a:r>
              <a:rPr lang="en-IN" sz="1050" b="1" i="0" u="none" strike="noStrike" dirty="0">
                <a:solidFill>
                  <a:srgbClr val="000000"/>
                </a:solidFill>
                <a:effectLst/>
              </a:rPr>
              <a:t>moderate positive correlation (r = 0.585)</a:t>
            </a:r>
            <a:r>
              <a:rPr lang="en-IN" sz="1050" b="0" i="0" u="none" strike="noStrike" dirty="0">
                <a:solidFill>
                  <a:srgbClr val="000000"/>
                </a:solidFill>
                <a:effectLst/>
              </a:rPr>
              <a:t> found in the 2022 correlation matrix.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89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D6D29B-CE0F-43B0-AD58-007C16D88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F6736-0EDD-F07F-2108-360AE51E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542" y="365124"/>
            <a:ext cx="10278577" cy="1325563"/>
          </a:xfrm>
        </p:spPr>
        <p:txBody>
          <a:bodyPr>
            <a:normAutofit/>
          </a:bodyPr>
          <a:lstStyle/>
          <a:p>
            <a:r>
              <a:rPr lang="en-IN" b="0" i="0" u="none" strike="noStrike">
                <a:effectLst/>
              </a:rPr>
              <a:t>BAR CHART: Health Expenditure Comparison (Code &amp; Plot)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6BE796-9648-4A96-8E5C-7FDB123C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985391" y="-2005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21E46-4BDC-C935-B15D-735253850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97" y="2055811"/>
            <a:ext cx="5199606" cy="44196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CEFFF-040A-1A1D-DA03-C5AE29268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186609"/>
            <a:ext cx="4988119" cy="392374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i="0" u="none" strike="noStrike">
                <a:effectLst/>
              </a:rPr>
              <a:t>Objective:</a:t>
            </a:r>
            <a:r>
              <a:rPr lang="en-IN" b="0" i="0" u="none" strike="noStrike">
                <a:effectLst/>
              </a:rPr>
              <a:t> Clearly compare the magnitude of per capita health spending across the selected countries </a:t>
            </a:r>
            <a:r>
              <a:rPr lang="en-IN" b="1" i="0" u="none" strike="noStrike">
                <a:effectLst/>
              </a:rPr>
              <a:t>specifically in 2022</a:t>
            </a:r>
            <a:r>
              <a:rPr lang="en-IN" b="0" i="0" u="none" strike="noStrike">
                <a:effectLst/>
              </a:rPr>
              <a:t>.</a:t>
            </a:r>
          </a:p>
        </p:txBody>
      </p:sp>
      <p:sp>
        <p:nvSpPr>
          <p:cNvPr id="17" name="Freeform: Shape 12">
            <a:extLst>
              <a:ext uri="{FF2B5EF4-FFF2-40B4-BE49-F238E27FC236}">
                <a16:creationId xmlns:a16="http://schemas.microsoft.com/office/drawing/2014/main" id="{15440BF0-CCE6-42AA-8970-78523D4C12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619770" y="373807"/>
            <a:ext cx="526228" cy="2930667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2681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0F65-B430-A6B2-9C6D-3FCC21D8D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66" y="486888"/>
            <a:ext cx="10357666" cy="924801"/>
          </a:xfrm>
        </p:spPr>
        <p:txBody>
          <a:bodyPr/>
          <a:lstStyle/>
          <a:p>
            <a:pPr algn="ctr"/>
            <a:r>
              <a:rPr lang="en-US" dirty="0"/>
              <a:t>BAR CHART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E82605D-FAE8-E592-6136-4E424E461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15870" y="1680359"/>
            <a:ext cx="756025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35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822DB-645A-1009-62B0-0E295EFC3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491" y="547340"/>
            <a:ext cx="7638168" cy="887460"/>
          </a:xfrm>
        </p:spPr>
        <p:txBody>
          <a:bodyPr anchor="b">
            <a:normAutofit/>
          </a:bodyPr>
          <a:lstStyle/>
          <a:p>
            <a:pPr algn="ctr"/>
            <a:r>
              <a:rPr lang="en-IN" b="0" i="0" u="none" strike="noStrike" dirty="0">
                <a:effectLst/>
              </a:rPr>
              <a:t>BAR CHART: Description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F0E9-D60A-D28A-D9F8-295C58FC9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9052" y="2021305"/>
            <a:ext cx="8110212" cy="431001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lang="en-IN" sz="1050" b="1" dirty="0"/>
              <a:t>Question Answered:</a:t>
            </a:r>
            <a:r>
              <a:rPr lang="en-IN" sz="1050" dirty="0"/>
              <a:t> How does health expenditure per capita differ across these eight countries </a:t>
            </a:r>
            <a:r>
              <a:rPr lang="en-IN" sz="1050" b="1" dirty="0"/>
              <a:t>in 2022</a:t>
            </a:r>
            <a:r>
              <a:rPr lang="en-IN" sz="1050" dirty="0"/>
              <a:t>?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/>
              <a:t>Visualization Design:</a:t>
            </a:r>
            <a:endParaRPr lang="en-IN" sz="105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Type:</a:t>
            </a:r>
            <a:r>
              <a:rPr lang="en-IN" sz="1050" dirty="0"/>
              <a:t> Bar chart. Best choice for comparing the magnitude of a quantitative variable across distinct categories (countries) at a single point in time (2022).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Marks:</a:t>
            </a:r>
            <a:r>
              <a:rPr lang="en-IN" sz="1050" dirty="0"/>
              <a:t> Bars (one bar per country).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b="1" dirty="0"/>
              <a:t>Channels:</a:t>
            </a:r>
            <a:endParaRPr lang="en-IN" sz="1050" dirty="0"/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X-Position encodes Country Code (categorical).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Y-Length (Height) encodes Health Expenditure p.c. (quantitative).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Text Label annotates each bar top with the precise value (quantitative).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Bars are sorted descending by value (as per your code) to facilitate easier ranking and comparison </a:t>
            </a:r>
            <a:r>
              <a:rPr lang="en-IN" sz="1050" i="1" dirty="0"/>
              <a:t>for 2022</a:t>
            </a:r>
            <a:r>
              <a:rPr lang="en-IN" sz="1050" dirty="0"/>
              <a:t>.</a:t>
            </a:r>
          </a:p>
          <a:p>
            <a:pPr>
              <a:lnSpc>
                <a:spcPct val="120000"/>
              </a:lnSpc>
              <a:buNone/>
            </a:pPr>
            <a:r>
              <a:rPr lang="en-IN" sz="1050" b="1" dirty="0"/>
              <a:t>How it Answers the Question:</a:t>
            </a:r>
            <a:endParaRPr lang="en-IN" sz="105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The length of the bars provides an immediate visual comparison of spending levels </a:t>
            </a:r>
            <a:r>
              <a:rPr lang="en-IN" sz="1050" i="1" dirty="0"/>
              <a:t>in 2022</a:t>
            </a:r>
            <a:r>
              <a:rPr lang="en-IN" sz="1050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Clearly highlights the significant difference in spending, particularly the high expenditure in the USA </a:t>
            </a:r>
            <a:r>
              <a:rPr lang="en-IN" sz="1050" i="1" dirty="0"/>
              <a:t>in 2022</a:t>
            </a:r>
            <a:r>
              <a:rPr lang="en-IN" sz="1050" dirty="0"/>
              <a:t>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50" dirty="0"/>
              <a:t>Allows easy ranking of countries by health expenditure </a:t>
            </a:r>
            <a:r>
              <a:rPr lang="en-IN" sz="1050" i="1" dirty="0"/>
              <a:t>for 2022</a:t>
            </a:r>
            <a:r>
              <a:rPr lang="en-IN" sz="1050" dirty="0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01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BC2AFA5F-EB7F-4280-BAAD-A7641CA3FF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B2F75-ADFC-C3FF-83C7-EC5685B28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699591"/>
            <a:ext cx="7638168" cy="1470404"/>
          </a:xfrm>
        </p:spPr>
        <p:txBody>
          <a:bodyPr anchor="b">
            <a:normAutofit/>
          </a:bodyPr>
          <a:lstStyle/>
          <a:p>
            <a:r>
              <a:rPr lang="en-IN" b="0" i="0" u="none" strike="noStrike" dirty="0">
                <a:effectLst/>
              </a:rPr>
              <a:t>Conclusion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DAC9C0A-BBCA-4B9F-8ADF-5B2CCB19F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206609" cy="20213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AB513-D733-5F43-BCA6-A1EBFA95D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476499"/>
            <a:ext cx="7638168" cy="361481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endParaRPr lang="en-IN" sz="1000" b="1" i="0" u="none" strike="noStrike" dirty="0">
              <a:effectLst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Process Summary:</a:t>
            </a:r>
            <a:r>
              <a:rPr lang="en-IN" sz="1000" b="0" i="0" u="none" strike="noStrike" dirty="0">
                <a:effectLst/>
              </a:rPr>
              <a:t> Successfully loaded, wrangled (using melt), cleaned (addressed </a:t>
            </a:r>
            <a:r>
              <a:rPr lang="en-IN" sz="1000" b="0" i="0" u="none" strike="noStrike" dirty="0" err="1">
                <a:effectLst/>
              </a:rPr>
              <a:t>NaNs</a:t>
            </a:r>
            <a:r>
              <a:rPr lang="en-IN" sz="1000" b="0" i="0" u="none" strike="noStrike" dirty="0">
                <a:effectLst/>
              </a:rPr>
              <a:t> by selecting 2000-2022), and analyzed a subset of the World Development Indicators dataset using Pandas. Generated descriptive statistics (both over the </a:t>
            </a:r>
            <a:r>
              <a:rPr lang="en-IN" sz="1000" b="1" i="0" u="none" strike="noStrike" dirty="0">
                <a:effectLst/>
              </a:rPr>
              <a:t>2000-2022 period</a:t>
            </a:r>
            <a:r>
              <a:rPr lang="en-IN" sz="1000" b="0" i="0" u="none" strike="noStrike" dirty="0">
                <a:effectLst/>
              </a:rPr>
              <a:t> and focusing on </a:t>
            </a:r>
            <a:r>
              <a:rPr lang="en-IN" sz="1000" b="1" i="0" u="none" strike="noStrike" dirty="0">
                <a:effectLst/>
              </a:rPr>
              <a:t>2022</a:t>
            </a:r>
            <a:r>
              <a:rPr lang="en-IN" sz="1000" b="0" i="0" u="none" strike="noStrike" dirty="0">
                <a:effectLst/>
              </a:rPr>
              <a:t>) and created three distinct visualizations (line, scatter, bar) using Matplotlib to explore trends and relationships.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Key Findings:</a:t>
            </a:r>
            <a:endParaRPr lang="en-IN" sz="1000" b="0" i="0" u="none" strike="noStrike" dirty="0">
              <a:effectLst/>
            </a:endParaRP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Trends (2000-2022):</a:t>
            </a:r>
            <a:r>
              <a:rPr lang="en-IN" sz="1000" b="0" i="0" u="none" strike="noStrike" dirty="0">
                <a:effectLst/>
              </a:rPr>
              <a:t> Life expectancy generally increased across the selected nations during this period, though significant variations in levels and specific country trends (like South Africa's recovery) were evident.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Relationships (2022):</a:t>
            </a:r>
            <a:r>
              <a:rPr lang="en-IN" sz="1000" b="0" i="0" u="none" strike="noStrike" dirty="0">
                <a:effectLst/>
              </a:rPr>
              <a:t> A moderate positive association (r=0.585) was observed between GDP per capita and life expectancy </a:t>
            </a:r>
            <a:r>
              <a:rPr lang="en-IN" sz="1000" b="1" i="0" u="none" strike="noStrike" dirty="0">
                <a:effectLst/>
              </a:rPr>
              <a:t>in 2022</a:t>
            </a:r>
            <a:r>
              <a:rPr lang="en-IN" sz="1000" b="0" i="0" u="none" strike="noStrike" dirty="0">
                <a:effectLst/>
              </a:rPr>
              <a:t>, confirming findings from the correlation analysis for that year. However, the relationship isn't perfectly linear, suggesting other factors are influential.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Comparison (2022):</a:t>
            </a:r>
            <a:r>
              <a:rPr lang="en-IN" sz="1000" b="0" i="0" u="none" strike="noStrike" dirty="0">
                <a:effectLst/>
              </a:rPr>
              <a:t> Per capita health expenditure varied dramatically across the countries analyzed </a:t>
            </a:r>
            <a:r>
              <a:rPr lang="en-IN" sz="1000" b="1" i="0" u="none" strike="noStrike" dirty="0">
                <a:effectLst/>
              </a:rPr>
              <a:t>in 2022</a:t>
            </a:r>
            <a:r>
              <a:rPr lang="en-IN" sz="1000" b="0" i="0" u="none" strike="noStrike" dirty="0">
                <a:effectLst/>
              </a:rPr>
              <a:t>, with the US spending significantly more than others in the group.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IN" sz="1000" b="1" i="0" u="none" strike="noStrike" dirty="0">
                <a:effectLst/>
              </a:rPr>
              <a:t>Overall:</a:t>
            </a:r>
            <a:r>
              <a:rPr lang="en-IN" sz="1000" b="0" i="0" u="none" strike="noStrike" dirty="0">
                <a:effectLst/>
              </a:rPr>
              <a:t> The project successfully applied EDA and visualization techniques to extract meaningful comparative insights from real-world tabular data, showing both </a:t>
            </a:r>
            <a:r>
              <a:rPr lang="en-IN" sz="1000" b="1" i="0" u="none" strike="noStrike" dirty="0">
                <a:effectLst/>
              </a:rPr>
              <a:t>longitudinal trends (2000-2022)</a:t>
            </a:r>
            <a:r>
              <a:rPr lang="en-IN" sz="1000" b="0" i="0" u="none" strike="noStrike" dirty="0">
                <a:effectLst/>
              </a:rPr>
              <a:t> and specific </a:t>
            </a:r>
            <a:r>
              <a:rPr lang="en-IN" sz="1000" b="1" i="0" u="none" strike="noStrike" dirty="0">
                <a:effectLst/>
              </a:rPr>
              <a:t>cross-sectional relationships (2022)</a:t>
            </a:r>
            <a:r>
              <a:rPr lang="en-IN" sz="1000" b="0" i="0" u="none" strike="noStrike" dirty="0">
                <a:effectLst/>
              </a:rPr>
              <a:t>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B784CEF-F6B1-4D62-86B3-F2A7C4EFB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1248316" y="2749419"/>
            <a:ext cx="949990" cy="4114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148D47FD-99F1-4F70-A0B7-DE3FFDD3B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8740216" y="2930143"/>
            <a:ext cx="5214382" cy="1269732"/>
          </a:xfrm>
          <a:custGeom>
            <a:avLst/>
            <a:gdLst>
              <a:gd name="connsiteX0" fmla="*/ 757287 w 757287"/>
              <a:gd name="connsiteY0" fmla="*/ 3694096 h 3694096"/>
              <a:gd name="connsiteX1" fmla="*/ 757287 w 757287"/>
              <a:gd name="connsiteY1" fmla="*/ 0 h 3694096"/>
              <a:gd name="connsiteX2" fmla="*/ 0 w 757287"/>
              <a:gd name="connsiteY2" fmla="*/ 0 h 3694096"/>
              <a:gd name="connsiteX3" fmla="*/ 0 w 757287"/>
              <a:gd name="connsiteY3" fmla="*/ 3686094 h 3694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287" h="3694096">
                <a:moveTo>
                  <a:pt x="757287" y="3694096"/>
                </a:moveTo>
                <a:lnTo>
                  <a:pt x="757287" y="0"/>
                </a:lnTo>
                <a:lnTo>
                  <a:pt x="0" y="0"/>
                </a:lnTo>
                <a:lnTo>
                  <a:pt x="0" y="3686094"/>
                </a:lnTo>
                <a:close/>
              </a:path>
            </a:pathLst>
          </a:custGeo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tile tx="0" ty="0" sx="6000" sy="6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223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EE15BCE-4322-42F8-BC00-CB6E428BEF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629CC9-5D39-E1D0-B070-F98695A8E5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1261872"/>
            <a:ext cx="4970417" cy="2852928"/>
          </a:xfrm>
        </p:spPr>
        <p:txBody>
          <a:bodyPr anchor="b">
            <a:normAutofit/>
          </a:bodyPr>
          <a:lstStyle/>
          <a:p>
            <a:r>
              <a:rPr lang="en-US" dirty="0"/>
              <a:t>THANK YOU!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BEF1980-3C98-4A49-A870-4616B2DA6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81000" cy="3664635"/>
            <a:chOff x="5006254" y="-1431285"/>
            <a:chExt cx="581000" cy="36646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97E33F5-6CB1-4734-8946-5E006E2473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61025" y="-788944"/>
              <a:ext cx="526229" cy="3022294"/>
            </a:xfrm>
            <a:prstGeom prst="rect">
              <a:avLst/>
            </a:prstGeom>
            <a:blipFill dpi="0" rotWithShape="1"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tile tx="0" ty="0" sx="6000" sy="6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7E4F751-6208-48C7-9840-00A6BDABD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V="1">
              <a:off x="5006254" y="-1431285"/>
              <a:ext cx="206609" cy="202130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Graphic 5" descr="Accept">
            <a:extLst>
              <a:ext uri="{FF2B5EF4-FFF2-40B4-BE49-F238E27FC236}">
                <a16:creationId xmlns:a16="http://schemas.microsoft.com/office/drawing/2014/main" id="{D4740054-592C-2802-D5E1-DBD7C00AD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6253" y="1316204"/>
            <a:ext cx="4186404" cy="4186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1481"/>
      </p:ext>
    </p:extLst>
  </p:cSld>
  <p:clrMapOvr>
    <a:masterClrMapping/>
  </p:clrMapOvr>
</p:sld>
</file>

<file path=ppt/theme/theme1.xml><?xml version="1.0" encoding="utf-8"?>
<a:theme xmlns:a="http://schemas.openxmlformats.org/drawingml/2006/main" name="VeniceBeachVTI">
  <a:themeElements>
    <a:clrScheme name="Venice Beach">
      <a:dk1>
        <a:sysClr val="windowText" lastClr="000000"/>
      </a:dk1>
      <a:lt1>
        <a:sysClr val="window" lastClr="FFFFFF"/>
      </a:lt1>
      <a:dk2>
        <a:srgbClr val="2B3E3D"/>
      </a:dk2>
      <a:lt2>
        <a:srgbClr val="FEF3EB"/>
      </a:lt2>
      <a:accent1>
        <a:srgbClr val="FE8542"/>
      </a:accent1>
      <a:accent2>
        <a:srgbClr val="EC6D60"/>
      </a:accent2>
      <a:accent3>
        <a:srgbClr val="CDA32B"/>
      </a:accent3>
      <a:accent4>
        <a:srgbClr val="EE66A7"/>
      </a:accent4>
      <a:accent5>
        <a:srgbClr val="EA5F48"/>
      </a:accent5>
      <a:accent6>
        <a:srgbClr val="C8466B"/>
      </a:accent6>
      <a:hlink>
        <a:srgbClr val="E46153"/>
      </a:hlink>
      <a:folHlink>
        <a:srgbClr val="CF63B0"/>
      </a:folHlink>
    </a:clrScheme>
    <a:fontScheme name="Avenir 1">
      <a:majorFont>
        <a:latin typeface="Avenir Next LT Pro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eniceBeachVTI" id="{69839BBA-F383-4FFD-B56A-E36ACE43E09D}" vid="{060D2740-A69C-444A-B833-E03D333ADD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1044</TotalTime>
  <Words>1669</Words>
  <Application>Microsoft Macintosh PowerPoint</Application>
  <PresentationFormat>Widescreen</PresentationFormat>
  <Paragraphs>117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-webkit-standard</vt:lpstr>
      <vt:lpstr>Arial</vt:lpstr>
      <vt:lpstr>Avenir Next LT Pro</vt:lpstr>
      <vt:lpstr>Avenir Next LT Pro Light</vt:lpstr>
      <vt:lpstr>VeniceBeachVTI</vt:lpstr>
      <vt:lpstr>EXPLORATORY DATA ANALYSIS AND VISUALIZATION ON World Development Indicators</vt:lpstr>
      <vt:lpstr>PROJECT OBJECTIVES</vt:lpstr>
      <vt:lpstr>Data Set Description</vt:lpstr>
      <vt:lpstr>Data loading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Final Analysis DataFrame</vt:lpstr>
      <vt:lpstr>PowerPoint Presentation</vt:lpstr>
      <vt:lpstr>Descriptive Statistics (Overall Indicators)</vt:lpstr>
      <vt:lpstr>Descriptive Statistics Per Country (2000-2022)</vt:lpstr>
      <vt:lpstr>PowerPoint Presentation</vt:lpstr>
      <vt:lpstr>Latest Year (2022) Analysis: Rankings &amp; Correlation</vt:lpstr>
      <vt:lpstr>PowerPoint Presentation</vt:lpstr>
      <vt:lpstr>PowerPoint Presentation</vt:lpstr>
      <vt:lpstr>LINE CHART: Life Expectancy Trends (Code &amp; Plot)</vt:lpstr>
      <vt:lpstr>Line chart</vt:lpstr>
      <vt:lpstr>LINE CHART: Description</vt:lpstr>
      <vt:lpstr>SCATTER PLOT: GDP vs. Life Expectancy (Code &amp; Plot)</vt:lpstr>
      <vt:lpstr>SCATTER PLOT</vt:lpstr>
      <vt:lpstr>SCATTER PLOT: Description</vt:lpstr>
      <vt:lpstr>BAR CHART: Health Expenditure Comparison (Code &amp; Plot)</vt:lpstr>
      <vt:lpstr>BAR CHART</vt:lpstr>
      <vt:lpstr>BAR CHART: Description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Saxena Shrivastava</dc:creator>
  <cp:lastModifiedBy>Ayush Saxena Shrivastava</cp:lastModifiedBy>
  <cp:revision>3</cp:revision>
  <dcterms:created xsi:type="dcterms:W3CDTF">2025-10-27T02:49:34Z</dcterms:created>
  <dcterms:modified xsi:type="dcterms:W3CDTF">2026-02-11T23:56:44Z</dcterms:modified>
</cp:coreProperties>
</file>